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792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6/2/2026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245686" y="648614"/>
            <a:ext cx="8534400" cy="1752600"/>
          </a:xfrm>
        </p:spPr>
        <p:txBody>
          <a:bodyPr/>
          <a:lstStyle/>
          <a:p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/>
            </a:r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</a:t>
            </a:r>
            <a:r>
              <a:rPr lang="en-US" sz="4000" b="1" dirty="0" smtClean="0">
                <a:solidFill>
                  <a:schemeClr val="tx2"/>
                </a:solidFill>
                <a:latin typeface="Garamond" panose="02020404030301010803" pitchFamily="18" charset="0"/>
              </a:rPr>
              <a:t>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31286" y="2076450"/>
            <a:ext cx="5924550" cy="47030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lnSpc>
                <a:spcPct val="95000"/>
              </a:lnSpc>
              <a:spcAft>
                <a:spcPts val="900"/>
              </a:spcAft>
            </a:pPr>
            <a:r>
              <a:rPr sz="1500" b="1" i="0">
                <a:solidFill>
                  <a:srgbClr val="17375E"/>
                </a:solidFill>
                <a:latin typeface="Calibri"/>
              </a:rPr>
              <a:t>Problem Statement ID – </a:t>
            </a:r>
            <a:r>
              <a:rPr sz="1500" b="0" i="0">
                <a:solidFill>
                  <a:srgbClr val="3F4548"/>
                </a:solidFill>
                <a:latin typeface="Calibri"/>
              </a:rPr>
              <a:t>SIH26164</a:t>
            </a:r>
            <a:endParaRPr lang="en-US" dirty="0"/>
          </a:p>
          <a:p>
            <a:pPr algn="l">
              <a:lnSpc>
                <a:spcPct val="95000"/>
              </a:lnSpc>
              <a:spcAft>
                <a:spcPts val="900"/>
              </a:spcAft>
            </a:pPr>
            <a:r>
              <a:rPr sz="1500" b="1" i="0">
                <a:solidFill>
                  <a:srgbClr val="17375E"/>
                </a:solidFill>
                <a:latin typeface="Calibri"/>
              </a:rPr>
              <a:t>Problem Statement Title- </a:t>
            </a:r>
            <a:r>
              <a:rPr sz="1500" b="0" i="0">
                <a:solidFill>
                  <a:srgbClr val="3F4548"/>
                </a:solidFill>
                <a:latin typeface="Calibri"/>
              </a:rPr>
              <a:t>Enterprise Cryptographic Discovery &amp; Analysis Tool (ECDAT)</a:t>
            </a:r>
          </a:p>
          <a:p>
            <a:pPr algn="l">
              <a:lnSpc>
                <a:spcPct val="95000"/>
              </a:lnSpc>
              <a:spcAft>
                <a:spcPts val="900"/>
              </a:spcAft>
            </a:pPr>
            <a:r>
              <a:rPr sz="1500" b="1" i="0">
                <a:solidFill>
                  <a:srgbClr val="17375E"/>
                </a:solidFill>
                <a:latin typeface="Calibri"/>
              </a:rPr>
              <a:t>Theme- </a:t>
            </a:r>
            <a:r>
              <a:rPr sz="1500" b="0" i="0">
                <a:solidFill>
                  <a:srgbClr val="3F4548"/>
                </a:solidFill>
                <a:latin typeface="Calibri"/>
              </a:rPr>
              <a:t>Blockchain &amp; Cybersecurity</a:t>
            </a:r>
          </a:p>
          <a:p>
            <a:pPr algn="l">
              <a:lnSpc>
                <a:spcPct val="95000"/>
              </a:lnSpc>
              <a:spcAft>
                <a:spcPts val="900"/>
              </a:spcAft>
            </a:pPr>
            <a:r>
              <a:rPr sz="1500" b="1" i="0">
                <a:solidFill>
                  <a:srgbClr val="17375E"/>
                </a:solidFill>
                <a:latin typeface="Calibri"/>
              </a:rPr>
              <a:t>PS Category- </a:t>
            </a:r>
            <a:r>
              <a:rPr sz="1500" b="0" i="0">
                <a:solidFill>
                  <a:srgbClr val="3F4548"/>
                </a:solidFill>
                <a:latin typeface="Calibri"/>
              </a:rPr>
              <a:t>Software</a:t>
            </a:r>
          </a:p>
          <a:p>
            <a:pPr algn="l">
              <a:lnSpc>
                <a:spcPct val="95000"/>
              </a:lnSpc>
              <a:spcAft>
                <a:spcPts val="900"/>
              </a:spcAft>
            </a:pPr>
            <a:r>
              <a:rPr sz="1500" b="1" i="0">
                <a:solidFill>
                  <a:srgbClr val="17375E"/>
                </a:solidFill>
                <a:latin typeface="Calibri"/>
              </a:rPr>
              <a:t>Team ID- </a:t>
            </a:r>
            <a:r>
              <a:rPr sz="1500" b="0" i="0">
                <a:solidFill>
                  <a:srgbClr val="3F4548"/>
                </a:solidFill>
                <a:latin typeface="Calibri"/>
              </a:rPr>
              <a:t>&lt;TEAM ID&gt;</a:t>
            </a:r>
          </a:p>
          <a:p>
            <a:pPr algn="l">
              <a:lnSpc>
                <a:spcPct val="95000"/>
              </a:lnSpc>
              <a:spcAft>
                <a:spcPts val="900"/>
              </a:spcAft>
            </a:pPr>
            <a:r>
              <a:rPr sz="1500" b="1" i="0">
                <a:solidFill>
                  <a:srgbClr val="17375E"/>
                </a:solidFill>
                <a:latin typeface="Calibri"/>
              </a:rPr>
              <a:t>Team Name (Registered on portal)- </a:t>
            </a:r>
            <a:r>
              <a:rPr sz="1500" b="0" i="0">
                <a:solidFill>
                  <a:srgbClr val="3F4548"/>
                </a:solidFill>
                <a:latin typeface="Calibri"/>
              </a:rPr>
              <a:t>&lt;TEAM NAME&gt;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9" name="Rectangle 15368"/>
          <p:cNvSpPr/>
          <p:nvPr/>
        </p:nvSpPr>
        <p:spPr>
          <a:xfrm>
            <a:off x="0" y="1115568"/>
            <a:ext cx="12192609" cy="4245924"/>
          </a:xfrm>
          <a:prstGeom prst="rect">
            <a:avLst/>
          </a:prstGeom>
          <a:solidFill>
            <a:srgbClr val="EC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82998" y="0"/>
            <a:ext cx="10972800" cy="1143000"/>
          </a:xfrm>
        </p:spPr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/>
            </a:r>
            <a:b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</a:br>
            <a:r>
              <a:rPr lang="en-US" sz="2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Q-DARPAN: CBOM Discovery and Quantum Risk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b="1" sz="1100"/>
              <a:t>&lt;TEAM&gt;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5362" name="Pentagon 15361"/>
          <p:cNvSpPr/>
          <p:nvPr/>
        </p:nvSpPr>
        <p:spPr>
          <a:xfrm>
            <a:off x="365760" y="1225296"/>
            <a:ext cx="3703320" cy="384048"/>
          </a:xfrm>
          <a:prstGeom prst="homePlate">
            <a:avLst/>
          </a:prstGeom>
          <a:solidFill>
            <a:srgbClr val="1F60A8"/>
          </a:solidFill>
          <a:ln>
            <a:noFill/>
          </a:ln>
          <a:effectLst>
            <a:outerShdw blurRad="101600" dist="25400" dir="5400000" rotWithShape="0">
              <a:srgbClr val="1F3B5C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/>
          <a:lstStyle/>
          <a:p>
            <a:pPr algn="ctr"/>
            <a:r>
              <a:rPr sz="1150" b="1" i="0">
                <a:solidFill>
                  <a:srgbClr val="FFFFFF"/>
                </a:solidFill>
                <a:latin typeface="Calibri"/>
              </a:rPr>
              <a:t>Proposed Solution</a:t>
            </a:r>
          </a:p>
        </p:txBody>
      </p:sp>
      <p:sp>
        <p:nvSpPr>
          <p:cNvPr id="15363" name="Rounded Rectangle 15362"/>
          <p:cNvSpPr/>
          <p:nvPr/>
        </p:nvSpPr>
        <p:spPr>
          <a:xfrm>
            <a:off x="365760" y="1645920"/>
            <a:ext cx="3703320" cy="280117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>
            <a:outerShdw blurRad="152400" dist="25400" dir="5400000" rotWithShape="0">
              <a:srgbClr val="1F3B5C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0584" rIns="100584" tIns="82296"/>
          <a:lstStyle/>
          <a:p>
            <a:pPr algn="l">
              <a:lnSpc>
                <a:spcPct val="93000"/>
              </a:lnSpc>
              <a:spcAft>
                <a:spcPts val="600"/>
              </a:spcAft>
            </a:pPr>
            <a:r>
              <a:rPr sz="1200" b="1" i="0">
                <a:solidFill>
                  <a:srgbClr val="17375E"/>
                </a:solidFill>
                <a:latin typeface="Calibri"/>
              </a:rPr>
              <a:t>Collectors: </a:t>
            </a:r>
            <a:r>
              <a:rPr sz="1200" b="0" i="0">
                <a:solidFill>
                  <a:srgbClr val="3F4548"/>
                </a:solidFill>
                <a:latin typeface="Calibri"/>
              </a:rPr>
              <a:t>source AST, ELF, containers, live TLS</a:t>
            </a:r>
          </a:p>
          <a:p>
            <a:pPr algn="l">
              <a:lnSpc>
                <a:spcPct val="93000"/>
              </a:lnSpc>
              <a:spcAft>
                <a:spcPts val="600"/>
              </a:spcAft>
            </a:pPr>
            <a:r>
              <a:rPr sz="1200" b="1" i="0">
                <a:solidFill>
                  <a:srgbClr val="17375E"/>
                </a:solidFill>
                <a:latin typeface="Calibri"/>
              </a:rPr>
              <a:t>Normaliser: </a:t>
            </a:r>
            <a:r>
              <a:rPr sz="1200" b="0" i="0">
                <a:solidFill>
                  <a:srgbClr val="3F4548"/>
                </a:solidFill>
                <a:latin typeface="Calibri"/>
              </a:rPr>
              <a:t>cross-surface dedupe with confidence scoring</a:t>
            </a:r>
          </a:p>
          <a:p>
            <a:pPr algn="l">
              <a:lnSpc>
                <a:spcPct val="93000"/>
              </a:lnSpc>
              <a:spcAft>
                <a:spcPts val="600"/>
              </a:spcAft>
            </a:pPr>
            <a:r>
              <a:rPr sz="1200" b="1" i="0">
                <a:solidFill>
                  <a:srgbClr val="17375E"/>
                </a:solidFill>
                <a:latin typeface="Calibri"/>
              </a:rPr>
              <a:t>CBOM: </a:t>
            </a:r>
            <a:r>
              <a:rPr sz="1200" b="0" i="0">
                <a:solidFill>
                  <a:srgbClr val="3F4548"/>
                </a:solidFill>
                <a:latin typeface="Calibri"/>
              </a:rPr>
              <a:t>CycloneDX 1.7 = ECMA-424 2nd edition</a:t>
            </a:r>
          </a:p>
          <a:p>
            <a:pPr algn="l">
              <a:lnSpc>
                <a:spcPct val="93000"/>
              </a:lnSpc>
              <a:spcAft>
                <a:spcPts val="600"/>
              </a:spcAft>
            </a:pPr>
            <a:r>
              <a:rPr sz="1200" b="1" i="0">
                <a:solidFill>
                  <a:srgbClr val="17375E"/>
                </a:solidFill>
                <a:latin typeface="Calibri"/>
              </a:rPr>
              <a:t>Engine: </a:t>
            </a:r>
            <a:r>
              <a:rPr sz="1200" b="0" i="0">
                <a:solidFill>
                  <a:srgbClr val="3F4548"/>
                </a:solidFill>
                <a:latin typeface="Calibri"/>
              </a:rPr>
              <a:t>Mosca scoring plus FIPS 203/204/205 recommender</a:t>
            </a:r>
          </a:p>
        </p:txBody>
      </p:sp>
      <p:sp>
        <p:nvSpPr>
          <p:cNvPr id="15364" name="Pentagon 15363"/>
          <p:cNvSpPr/>
          <p:nvPr/>
        </p:nvSpPr>
        <p:spPr>
          <a:xfrm>
            <a:off x="4224528" y="1225296"/>
            <a:ext cx="3703320" cy="384048"/>
          </a:xfrm>
          <a:prstGeom prst="homePlate">
            <a:avLst/>
          </a:prstGeom>
          <a:solidFill>
            <a:srgbClr val="1F60A8"/>
          </a:solidFill>
          <a:ln>
            <a:noFill/>
          </a:ln>
          <a:effectLst>
            <a:outerShdw blurRad="101600" dist="25400" dir="5400000" rotWithShape="0">
              <a:srgbClr val="1F3B5C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/>
          <a:lstStyle/>
          <a:p>
            <a:pPr algn="ctr"/>
            <a:r>
              <a:rPr sz="1150" b="1" i="0">
                <a:solidFill>
                  <a:srgbClr val="FFFFFF"/>
                </a:solidFill>
                <a:latin typeface="Calibri"/>
              </a:rPr>
              <a:t>How It Addresses the Problem</a:t>
            </a:r>
          </a:p>
        </p:txBody>
      </p:sp>
      <p:sp>
        <p:nvSpPr>
          <p:cNvPr id="15365" name="Rounded Rectangle 15364"/>
          <p:cNvSpPr/>
          <p:nvPr/>
        </p:nvSpPr>
        <p:spPr>
          <a:xfrm>
            <a:off x="4224528" y="1645920"/>
            <a:ext cx="3703320" cy="280117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>
            <a:outerShdw blurRad="152400" dist="25400" dir="5400000" rotWithShape="0">
              <a:srgbClr val="1F3B5C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0584" rIns="100584" tIns="82296"/>
          <a:lstStyle/>
          <a:p>
            <a:pPr algn="l">
              <a:lnSpc>
                <a:spcPct val="93000"/>
              </a:lnSpc>
              <a:spcAft>
                <a:spcPts val="600"/>
              </a:spcAft>
            </a:pPr>
            <a:r>
              <a:rPr sz="1200" b="1" i="0">
                <a:solidFill>
                  <a:srgbClr val="17375E"/>
                </a:solidFill>
                <a:latin typeface="Calibri"/>
              </a:rPr>
              <a:t>Catalogues: </a:t>
            </a:r>
            <a:r>
              <a:rPr sz="1200" b="0" i="0">
                <a:solidFill>
                  <a:srgbClr val="3F4548"/>
                </a:solidFill>
                <a:latin typeface="Calibri"/>
              </a:rPr>
              <a:t>algorithms, keys, certificates, libraries, protocols</a:t>
            </a:r>
          </a:p>
          <a:p>
            <a:pPr algn="l">
              <a:lnSpc>
                <a:spcPct val="93000"/>
              </a:lnSpc>
              <a:spcAft>
                <a:spcPts val="600"/>
              </a:spcAft>
            </a:pPr>
            <a:r>
              <a:rPr sz="1200" b="1" i="0">
                <a:solidFill>
                  <a:srgbClr val="17375E"/>
                </a:solidFill>
                <a:latin typeface="Calibri"/>
              </a:rPr>
              <a:t>Quantum Risk: </a:t>
            </a:r>
            <a:r>
              <a:rPr sz="1200" b="0" i="0">
                <a:solidFill>
                  <a:srgbClr val="3F4548"/>
                </a:solidFill>
                <a:latin typeface="Calibri"/>
              </a:rPr>
              <a:t>RSA/ECC flagged against NIST IR 8547 (ipd)</a:t>
            </a:r>
          </a:p>
          <a:p>
            <a:pPr algn="l">
              <a:lnSpc>
                <a:spcPct val="93000"/>
              </a:lnSpc>
              <a:spcAft>
                <a:spcPts val="600"/>
              </a:spcAft>
            </a:pPr>
            <a:r>
              <a:rPr sz="1200" b="1" i="0">
                <a:solidFill>
                  <a:srgbClr val="17375E"/>
                </a:solidFill>
                <a:latin typeface="Calibri"/>
              </a:rPr>
              <a:t>Classifies: </a:t>
            </a:r>
            <a:r>
              <a:rPr sz="1200" b="0" i="0">
                <a:solidFill>
                  <a:srgbClr val="3F4548"/>
                </a:solidFill>
                <a:latin typeface="Calibri"/>
              </a:rPr>
              <a:t>type, lifetime, criticality via Mosca's X+Y&gt;Z</a:t>
            </a:r>
          </a:p>
          <a:p>
            <a:pPr algn="l">
              <a:lnSpc>
                <a:spcPct val="93000"/>
              </a:lnSpc>
              <a:spcAft>
                <a:spcPts val="600"/>
              </a:spcAft>
            </a:pPr>
            <a:r>
              <a:rPr sz="1200" b="1" i="0">
                <a:solidFill>
                  <a:srgbClr val="17375E"/>
                </a:solidFill>
                <a:latin typeface="Calibri"/>
              </a:rPr>
              <a:t>Recommends: </a:t>
            </a:r>
            <a:r>
              <a:rPr sz="1200" b="0" i="0">
                <a:solidFill>
                  <a:srgbClr val="3F4548"/>
                </a:solidFill>
                <a:latin typeface="Calibri"/>
              </a:rPr>
              <a:t>hybrid or pure PQC by latency, cost</a:t>
            </a:r>
          </a:p>
        </p:txBody>
      </p:sp>
      <p:sp>
        <p:nvSpPr>
          <p:cNvPr id="15366" name="Pentagon 15365"/>
          <p:cNvSpPr/>
          <p:nvPr/>
        </p:nvSpPr>
        <p:spPr>
          <a:xfrm>
            <a:off x="8083296" y="1225296"/>
            <a:ext cx="3739896" cy="384048"/>
          </a:xfrm>
          <a:prstGeom prst="homePlate">
            <a:avLst/>
          </a:prstGeom>
          <a:solidFill>
            <a:srgbClr val="1F60A8"/>
          </a:solidFill>
          <a:ln>
            <a:noFill/>
          </a:ln>
          <a:effectLst>
            <a:outerShdw blurRad="101600" dist="25400" dir="5400000" rotWithShape="0">
              <a:srgbClr val="1F3B5C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/>
          <a:lstStyle/>
          <a:p>
            <a:pPr algn="ctr"/>
            <a:r>
              <a:rPr sz="1150" b="1" i="0">
                <a:solidFill>
                  <a:srgbClr val="FFFFFF"/>
                </a:solidFill>
                <a:latin typeface="Calibri"/>
              </a:rPr>
              <a:t>Innovation &amp; Uniqueness</a:t>
            </a:r>
          </a:p>
        </p:txBody>
      </p:sp>
      <p:sp>
        <p:nvSpPr>
          <p:cNvPr id="15367" name="Rounded Rectangle 15366"/>
          <p:cNvSpPr/>
          <p:nvPr/>
        </p:nvSpPr>
        <p:spPr>
          <a:xfrm>
            <a:off x="8083296" y="1645920"/>
            <a:ext cx="3739896" cy="280117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>
            <a:outerShdw blurRad="152400" dist="25400" dir="5400000" rotWithShape="0">
              <a:srgbClr val="1F3B5C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0584" rIns="100584" tIns="82296"/>
          <a:lstStyle/>
          <a:p>
            <a:pPr algn="l">
              <a:lnSpc>
                <a:spcPct val="93000"/>
              </a:lnSpc>
              <a:spcAft>
                <a:spcPts val="600"/>
              </a:spcAft>
            </a:pPr>
            <a:r>
              <a:rPr sz="1200" b="1" i="0">
                <a:solidFill>
                  <a:srgbClr val="17375E"/>
                </a:solidFill>
                <a:latin typeface="Calibri"/>
              </a:rPr>
              <a:t>Policy-Timed: </a:t>
            </a:r>
            <a:r>
              <a:rPr sz="1200" b="0" i="0">
                <a:solidFill>
                  <a:srgbClr val="3F4548"/>
                </a:solidFill>
                <a:latin typeface="Calibri"/>
              </a:rPr>
              <a:t>DST mandates vendor CBOMs from FY 2027-28</a:t>
            </a:r>
          </a:p>
          <a:p>
            <a:pPr algn="l">
              <a:lnSpc>
                <a:spcPct val="93000"/>
              </a:lnSpc>
              <a:spcAft>
                <a:spcPts val="600"/>
              </a:spcAft>
            </a:pPr>
            <a:r>
              <a:rPr sz="1200" b="1" i="0">
                <a:solidFill>
                  <a:srgbClr val="17375E"/>
                </a:solidFill>
                <a:latin typeface="Calibri"/>
              </a:rPr>
              <a:t>C/C++ Gap: </a:t>
            </a:r>
            <a:r>
              <a:rPr sz="1200" b="0" i="0">
                <a:solidFill>
                  <a:srgbClr val="3F4548"/>
                </a:solidFill>
                <a:latin typeface="Calibri"/>
              </a:rPr>
              <a:t>sonar-cryptography has no C/C++ (Java, Python, Go, C#)</a:t>
            </a:r>
          </a:p>
          <a:p>
            <a:pPr algn="l">
              <a:lnSpc>
                <a:spcPct val="93000"/>
              </a:lnSpc>
              <a:spcAft>
                <a:spcPts val="600"/>
              </a:spcAft>
            </a:pPr>
            <a:r>
              <a:rPr sz="1200" b="1" i="0">
                <a:solidFill>
                  <a:srgbClr val="17375E"/>
                </a:solidFill>
                <a:latin typeface="Calibri"/>
              </a:rPr>
              <a:t>Beyond Discovery: </a:t>
            </a:r>
            <a:r>
              <a:rPr sz="1200" b="0" i="0">
                <a:solidFill>
                  <a:srgbClr val="3F4548"/>
                </a:solidFill>
                <a:latin typeface="Calibri"/>
              </a:rPr>
              <a:t>CBOMkit inventories only - no risk model, no advice</a:t>
            </a:r>
          </a:p>
          <a:p>
            <a:pPr algn="l">
              <a:lnSpc>
                <a:spcPct val="93000"/>
              </a:lnSpc>
              <a:spcAft>
                <a:spcPts val="600"/>
              </a:spcAft>
            </a:pPr>
            <a:r>
              <a:rPr sz="1200" b="1" i="0">
                <a:solidFill>
                  <a:srgbClr val="17375E"/>
                </a:solidFill>
                <a:latin typeface="Calibri"/>
              </a:rPr>
              <a:t>Air-Gapped: </a:t>
            </a:r>
            <a:r>
              <a:rPr sz="1200" b="0" i="0">
                <a:solidFill>
                  <a:srgbClr val="3F4548"/>
                </a:solidFill>
                <a:latin typeface="Calibri"/>
              </a:rPr>
              <a:t>offline scan, no agents, no cloud upload</a:t>
            </a:r>
          </a:p>
          <a:p>
            <a:pPr algn="l">
              <a:lnSpc>
                <a:spcPct val="93000"/>
              </a:lnSpc>
              <a:spcAft>
                <a:spcPts val="600"/>
              </a:spcAft>
            </a:pPr>
            <a:r>
              <a:rPr sz="1200" b="1" i="0">
                <a:solidFill>
                  <a:srgbClr val="17375E"/>
                </a:solidFill>
                <a:latin typeface="Calibri"/>
              </a:rPr>
              <a:t>Size Delta: </a:t>
            </a:r>
            <a:r>
              <a:rPr sz="1200" b="0" i="0">
                <a:solidFill>
                  <a:srgbClr val="3F4548"/>
                </a:solidFill>
                <a:latin typeface="Calibri"/>
              </a:rPr>
              <a:t>ML-DSA-65 costs +1888 B key, 51.7x payload</a:t>
            </a:r>
          </a:p>
        </p:txBody>
      </p:sp>
      <p:sp>
        <p:nvSpPr>
          <p:cNvPr id="15368" name="Rectangle 15367"/>
          <p:cNvSpPr/>
          <p:nvPr/>
        </p:nvSpPr>
        <p:spPr>
          <a:xfrm>
            <a:off x="365760" y="4648260"/>
            <a:ext cx="11457432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4F81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i="0">
                <a:solidFill>
                  <a:srgbClr val="17375E"/>
                </a:solidFill>
                <a:latin typeface="Calibri"/>
              </a:rPr>
              <a:t>01 CISO </a:t>
            </a:r>
            <a:r>
              <a:rPr sz="1200" b="0" i="0">
                <a:solidFill>
                  <a:srgbClr val="3F4548"/>
                </a:solidFill>
                <a:latin typeface="Calibri"/>
              </a:rPr>
              <a:t>scopes estate</a:t>
            </a:r>
            <a:r>
              <a:rPr sz="1250" b="1" i="0">
                <a:solidFill>
                  <a:srgbClr val="1F60A8"/>
                </a:solidFill>
                <a:latin typeface="Calibri"/>
              </a:rPr>
              <a:t>   →   </a:t>
            </a:r>
            <a:r>
              <a:rPr sz="1200" b="1" i="0">
                <a:solidFill>
                  <a:srgbClr val="17375E"/>
                </a:solidFill>
                <a:latin typeface="Calibri"/>
              </a:rPr>
              <a:t>02 Collectors </a:t>
            </a:r>
            <a:r>
              <a:rPr sz="1200" b="0" i="0">
                <a:solidFill>
                  <a:srgbClr val="3F4548"/>
                </a:solidFill>
                <a:latin typeface="Calibri"/>
              </a:rPr>
              <a:t>scan offline</a:t>
            </a:r>
            <a:r>
              <a:rPr sz="1250" b="1" i="0">
                <a:solidFill>
                  <a:srgbClr val="1F60A8"/>
                </a:solidFill>
                <a:latin typeface="Calibri"/>
              </a:rPr>
              <a:t>   →   </a:t>
            </a:r>
            <a:r>
              <a:rPr sz="1200" b="1" i="0">
                <a:solidFill>
                  <a:srgbClr val="17375E"/>
                </a:solidFill>
                <a:latin typeface="Calibri"/>
              </a:rPr>
              <a:t>03 Risk Engine </a:t>
            </a:r>
            <a:r>
              <a:rPr sz="1200" b="0" i="0">
                <a:solidFill>
                  <a:srgbClr val="3F4548"/>
                </a:solidFill>
                <a:latin typeface="Calibri"/>
              </a:rPr>
              <a:t>scores exposure</a:t>
            </a:r>
            <a:r>
              <a:rPr sz="1250" b="1" i="0">
                <a:solidFill>
                  <a:srgbClr val="1F60A8"/>
                </a:solidFill>
                <a:latin typeface="Calibri"/>
              </a:rPr>
              <a:t>   →   </a:t>
            </a:r>
            <a:r>
              <a:rPr sz="1200" b="1" i="0">
                <a:solidFill>
                  <a:srgbClr val="17375E"/>
                </a:solidFill>
                <a:latin typeface="Calibri"/>
              </a:rPr>
              <a:t>04 SOC Analyst </a:t>
            </a:r>
            <a:r>
              <a:rPr sz="1200" b="0" i="0">
                <a:solidFill>
                  <a:srgbClr val="3F4548"/>
                </a:solidFill>
                <a:latin typeface="Calibri"/>
              </a:rPr>
              <a:t>triages dashboard</a:t>
            </a:r>
            <a:r>
              <a:rPr sz="1250" b="1" i="0">
                <a:solidFill>
                  <a:srgbClr val="1F60A8"/>
                </a:solidFill>
                <a:latin typeface="Calibri"/>
              </a:rPr>
              <a:t>   →   </a:t>
            </a:r>
            <a:r>
              <a:rPr sz="1200" b="1" i="0">
                <a:solidFill>
                  <a:srgbClr val="17375E"/>
                </a:solidFill>
                <a:latin typeface="Calibri"/>
              </a:rPr>
              <a:t>05 Auditor </a:t>
            </a:r>
            <a:r>
              <a:rPr sz="1200" b="0" i="0">
                <a:solidFill>
                  <a:srgbClr val="3F4548"/>
                </a:solidFill>
                <a:latin typeface="Calibri"/>
              </a:rPr>
              <a:t>exports CBOM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45" name="Rectangle 17444"/>
          <p:cNvSpPr/>
          <p:nvPr/>
        </p:nvSpPr>
        <p:spPr>
          <a:xfrm>
            <a:off x="0" y="1115568"/>
            <a:ext cx="12192609" cy="5193792"/>
          </a:xfrm>
          <a:prstGeom prst="rect">
            <a:avLst/>
          </a:prstGeom>
          <a:solidFill>
            <a:srgbClr val="EC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b="1" sz="1100"/>
              <a:t>&lt;TEAM&gt;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ectangle 17409"/>
          <p:cNvSpPr/>
          <p:nvPr/>
        </p:nvSpPr>
        <p:spPr>
          <a:xfrm>
            <a:off x="365760" y="1463040"/>
            <a:ext cx="786384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18288" bIns="18288"/>
          <a:lstStyle/>
          <a:p>
            <a:pPr algn="l"/>
            <a:r>
              <a:rPr sz="1100" b="1" i="0">
                <a:solidFill>
                  <a:srgbClr val="1F60A8"/>
                </a:solidFill>
                <a:latin typeface="Calibri"/>
              </a:rPr>
              <a:t>Q-DARPAN DISCOVERY AND RISK PIPELINE</a:t>
            </a:r>
          </a:p>
        </p:txBody>
      </p:sp>
      <p:sp>
        <p:nvSpPr>
          <p:cNvPr id="17411" name="Rectangle 17410"/>
          <p:cNvSpPr/>
          <p:nvPr/>
        </p:nvSpPr>
        <p:spPr>
          <a:xfrm>
            <a:off x="420624" y="2560320"/>
            <a:ext cx="7589520" cy="3520440"/>
          </a:xfrm>
          <a:prstGeom prst="rect">
            <a:avLst/>
          </a:prstGeom>
          <a:noFill/>
          <a:ln w="15875">
            <a:solidFill>
              <a:srgbClr val="C0504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412" name="Rectangle 17411"/>
          <p:cNvSpPr/>
          <p:nvPr/>
        </p:nvSpPr>
        <p:spPr>
          <a:xfrm>
            <a:off x="512064" y="2459736"/>
            <a:ext cx="3566160" cy="201168"/>
          </a:xfrm>
          <a:prstGeom prst="rect">
            <a:avLst/>
          </a:prstGeom>
          <a:solidFill>
            <a:srgbClr val="EC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l"/>
            <a:r>
              <a:rPr sz="1050" b="1" i="0">
                <a:solidFill>
                  <a:srgbClr val="C0504D"/>
                </a:solidFill>
                <a:latin typeface="Calibri"/>
              </a:rPr>
              <a:t>AIR-GAPPED ENCLAVE - NO EGRESS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566928" y="2743200"/>
            <a:ext cx="173736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F81BD"/>
            </a:solidFill>
          </a:ln>
          <a:effectLst>
            <a:outerShdw blurRad="101600" dist="19050" dir="5400000" rotWithShape="0">
              <a:srgbClr val="1F3B5C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2000"/>
              </a:lnSpc>
            </a:pPr>
            <a:r>
              <a:rPr sz="1100" b="1" i="0">
                <a:solidFill>
                  <a:srgbClr val="262B2E"/>
                </a:solidFill>
                <a:latin typeface="Calibri"/>
              </a:rPr>
              <a:t>SOURCE AST SCAN</a:t>
            </a:r>
          </a:p>
          <a:p>
            <a:pPr algn="ctr">
              <a:lnSpc>
                <a:spcPct val="92000"/>
              </a:lnSpc>
            </a:pPr>
            <a:r>
              <a:rPr sz="1050" b="0" i="0">
                <a:solidFill>
                  <a:srgbClr val="6E777C"/>
                </a:solidFill>
                <a:latin typeface="Calibri"/>
              </a:rPr>
              <a:t>AST across C/C++, Java, Go</a:t>
            </a:r>
          </a:p>
        </p:txBody>
      </p:sp>
      <p:sp>
        <p:nvSpPr>
          <p:cNvPr id="17414" name="Rounded Rectangle 17413"/>
          <p:cNvSpPr/>
          <p:nvPr/>
        </p:nvSpPr>
        <p:spPr>
          <a:xfrm>
            <a:off x="566928" y="3529584"/>
            <a:ext cx="173736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F81BD"/>
            </a:solidFill>
          </a:ln>
          <a:effectLst>
            <a:outerShdw blurRad="101600" dist="19050" dir="5400000" rotWithShape="0">
              <a:srgbClr val="1F3B5C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2000"/>
              </a:lnSpc>
            </a:pPr>
            <a:r>
              <a:rPr sz="1100" b="1" i="0">
                <a:solidFill>
                  <a:srgbClr val="262B2E"/>
                </a:solidFill>
                <a:latin typeface="Calibri"/>
              </a:rPr>
              <a:t>BINARY / ELF SCAN</a:t>
            </a:r>
          </a:p>
          <a:p>
            <a:pPr algn="ctr">
              <a:lnSpc>
                <a:spcPct val="92000"/>
              </a:lnSpc>
            </a:pPr>
            <a:r>
              <a:rPr sz="1050" b="0" i="0">
                <a:solidFill>
                  <a:srgbClr val="6E777C"/>
                </a:solidFill>
                <a:latin typeface="Calibri"/>
              </a:rPr>
              <a:t>DT_NEEDED + constant search</a:t>
            </a:r>
          </a:p>
        </p:txBody>
      </p:sp>
      <p:sp>
        <p:nvSpPr>
          <p:cNvPr id="17415" name="Rounded Rectangle 17414"/>
          <p:cNvSpPr/>
          <p:nvPr/>
        </p:nvSpPr>
        <p:spPr>
          <a:xfrm>
            <a:off x="566928" y="4315968"/>
            <a:ext cx="173736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F81BD"/>
            </a:solidFill>
          </a:ln>
          <a:effectLst>
            <a:outerShdw blurRad="101600" dist="19050" dir="5400000" rotWithShape="0">
              <a:srgbClr val="1F3B5C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2000"/>
              </a:lnSpc>
            </a:pPr>
            <a:r>
              <a:rPr sz="1100" b="1" i="0">
                <a:solidFill>
                  <a:srgbClr val="262B2E"/>
                </a:solidFill>
                <a:latin typeface="Calibri"/>
              </a:rPr>
              <a:t>CONTAINER LAYERS</a:t>
            </a:r>
          </a:p>
          <a:p>
            <a:pPr algn="ctr">
              <a:lnSpc>
                <a:spcPct val="92000"/>
              </a:lnSpc>
            </a:pPr>
            <a:r>
              <a:rPr sz="1050" b="0" i="0">
                <a:solidFill>
                  <a:srgbClr val="6E777C"/>
                </a:solidFill>
                <a:latin typeface="Calibri"/>
              </a:rPr>
              <a:t>per-layer image inspection</a:t>
            </a:r>
          </a:p>
        </p:txBody>
      </p:sp>
      <p:sp>
        <p:nvSpPr>
          <p:cNvPr id="17416" name="Rounded Rectangle 17415"/>
          <p:cNvSpPr/>
          <p:nvPr/>
        </p:nvSpPr>
        <p:spPr>
          <a:xfrm>
            <a:off x="566928" y="5102352"/>
            <a:ext cx="173736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F81BD"/>
            </a:solidFill>
          </a:ln>
          <a:effectLst>
            <a:outerShdw blurRad="101600" dist="19050" dir="5400000" rotWithShape="0">
              <a:srgbClr val="1F3B5C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2000"/>
              </a:lnSpc>
            </a:pPr>
            <a:r>
              <a:rPr sz="1100" b="1" i="0">
                <a:solidFill>
                  <a:srgbClr val="262B2E"/>
                </a:solidFill>
                <a:latin typeface="Calibri"/>
              </a:rPr>
              <a:t>LIVE TLS PROBE</a:t>
            </a:r>
          </a:p>
          <a:p>
            <a:pPr algn="ctr">
              <a:lnSpc>
                <a:spcPct val="92000"/>
              </a:lnSpc>
            </a:pPr>
            <a:r>
              <a:rPr sz="1050" b="0" i="0">
                <a:solidFill>
                  <a:srgbClr val="6E777C"/>
                </a:solidFill>
                <a:latin typeface="Calibri"/>
              </a:rPr>
              <a:t>handshake, certs, groups</a:t>
            </a:r>
          </a:p>
        </p:txBody>
      </p:sp>
      <p:sp>
        <p:nvSpPr>
          <p:cNvPr id="17417" name="Rounded Rectangle 17416"/>
          <p:cNvSpPr/>
          <p:nvPr/>
        </p:nvSpPr>
        <p:spPr>
          <a:xfrm>
            <a:off x="2468880" y="3749039"/>
            <a:ext cx="164592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62B2E"/>
            </a:solidFill>
          </a:ln>
          <a:effectLst>
            <a:outerShdw blurRad="101600" dist="19050" dir="5400000" rotWithShape="0">
              <a:srgbClr val="1F3B5C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2000"/>
              </a:lnSpc>
            </a:pPr>
            <a:r>
              <a:rPr sz="1100" b="1" i="0">
                <a:solidFill>
                  <a:srgbClr val="262B2E"/>
                </a:solidFill>
                <a:latin typeface="Calibri"/>
              </a:rPr>
              <a:t>NORMALISER</a:t>
            </a:r>
          </a:p>
          <a:p>
            <a:pPr algn="ctr">
              <a:lnSpc>
                <a:spcPct val="92000"/>
              </a:lnSpc>
            </a:pPr>
            <a:r>
              <a:rPr sz="1050" b="0" i="0">
                <a:solidFill>
                  <a:srgbClr val="6E777C"/>
                </a:solidFill>
                <a:latin typeface="Calibri"/>
              </a:rPr>
              <a:t>cross-surface dedupe</a:t>
            </a:r>
          </a:p>
          <a:p>
            <a:pPr algn="ctr">
              <a:lnSpc>
                <a:spcPct val="92000"/>
              </a:lnSpc>
            </a:pPr>
            <a:r>
              <a:rPr sz="1050" b="0" i="0">
                <a:solidFill>
                  <a:srgbClr val="6E777C"/>
                </a:solidFill>
                <a:latin typeface="Calibri"/>
              </a:rPr>
              <a:t>confidence per finding</a:t>
            </a:r>
          </a:p>
        </p:txBody>
      </p:sp>
      <p:sp>
        <p:nvSpPr>
          <p:cNvPr id="17418" name="Rounded Rectangle 17417"/>
          <p:cNvSpPr/>
          <p:nvPr/>
        </p:nvSpPr>
        <p:spPr>
          <a:xfrm>
            <a:off x="4279392" y="3749039"/>
            <a:ext cx="1554480" cy="1005840"/>
          </a:xfrm>
          <a:prstGeom prst="roundRect">
            <a:avLst/>
          </a:prstGeom>
          <a:solidFill>
            <a:srgbClr val="DCE6F1"/>
          </a:solidFill>
          <a:ln w="22225">
            <a:solidFill>
              <a:srgbClr val="C0504D"/>
            </a:solidFill>
          </a:ln>
          <a:effectLst>
            <a:outerShdw blurRad="101600" dist="19050" dir="5400000" rotWithShape="0">
              <a:srgbClr val="1F3B5C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2000"/>
              </a:lnSpc>
            </a:pPr>
            <a:r>
              <a:rPr sz="1100" b="1" i="0">
                <a:solidFill>
                  <a:srgbClr val="C0504D"/>
                </a:solidFill>
                <a:latin typeface="Calibri"/>
              </a:rPr>
              <a:t>CBOM ARTEFACT</a:t>
            </a:r>
          </a:p>
          <a:p>
            <a:pPr algn="ctr">
              <a:lnSpc>
                <a:spcPct val="92000"/>
              </a:lnSpc>
            </a:pPr>
            <a:r>
              <a:rPr sz="1050" b="0" i="0">
                <a:solidFill>
                  <a:srgbClr val="6E777C"/>
                </a:solidFill>
                <a:latin typeface="Calibri"/>
              </a:rPr>
              <a:t>CycloneDX 1.7 / ECMA-424</a:t>
            </a:r>
          </a:p>
        </p:txBody>
      </p:sp>
      <p:sp>
        <p:nvSpPr>
          <p:cNvPr id="17419" name="Rounded Rectangle 17418"/>
          <p:cNvSpPr/>
          <p:nvPr/>
        </p:nvSpPr>
        <p:spPr>
          <a:xfrm>
            <a:off x="4279392" y="4937760"/>
            <a:ext cx="1554480" cy="777240"/>
          </a:xfrm>
          <a:prstGeom prst="roundRect">
            <a:avLst/>
          </a:prstGeom>
          <a:solidFill>
            <a:srgbClr val="17375E"/>
          </a:solidFill>
          <a:ln w="12700">
            <a:solidFill>
              <a:srgbClr val="17375E"/>
            </a:solidFill>
          </a:ln>
          <a:effectLst>
            <a:outerShdw blurRad="101600" dist="19050" dir="5400000" rotWithShape="0">
              <a:srgbClr val="1F3B5C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2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AUDIT EXPORT</a:t>
            </a:r>
          </a:p>
          <a:p>
            <a:pPr algn="ctr">
              <a:lnSpc>
                <a:spcPct val="92000"/>
              </a:lnSpc>
            </a:pPr>
            <a:r>
              <a:rPr sz="1050" b="0" i="0">
                <a:solidFill>
                  <a:srgbClr val="DCE6F1"/>
                </a:solidFill>
                <a:latin typeface="Calibri"/>
              </a:rPr>
              <a:t>evidence pack for regulator</a:t>
            </a:r>
          </a:p>
        </p:txBody>
      </p:sp>
      <p:sp>
        <p:nvSpPr>
          <p:cNvPr id="17420" name="Rounded Rectangle 17419"/>
          <p:cNvSpPr/>
          <p:nvPr/>
        </p:nvSpPr>
        <p:spPr>
          <a:xfrm>
            <a:off x="5998464" y="2788920"/>
            <a:ext cx="1874519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7375E"/>
            </a:solidFill>
          </a:ln>
          <a:effectLst>
            <a:outerShdw blurRad="101600" dist="19050" dir="5400000" rotWithShape="0">
              <a:srgbClr val="1F3B5C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2000"/>
              </a:lnSpc>
            </a:pPr>
            <a:r>
              <a:rPr sz="1100" b="1" i="0">
                <a:solidFill>
                  <a:srgbClr val="262B2E"/>
                </a:solidFill>
                <a:latin typeface="Calibri"/>
              </a:rPr>
              <a:t>MOSCA RISK ENGINE</a:t>
            </a:r>
          </a:p>
          <a:p>
            <a:pPr algn="ctr">
              <a:lnSpc>
                <a:spcPct val="92000"/>
              </a:lnSpc>
            </a:pPr>
            <a:r>
              <a:rPr sz="1050" b="0" i="0">
                <a:solidFill>
                  <a:srgbClr val="6E777C"/>
                </a:solidFill>
                <a:latin typeface="Calibri"/>
              </a:rPr>
              <a:t>X + Y &gt; Z, criticality tier</a:t>
            </a:r>
          </a:p>
        </p:txBody>
      </p:sp>
      <p:sp>
        <p:nvSpPr>
          <p:cNvPr id="17421" name="Rounded Rectangle 17420"/>
          <p:cNvSpPr/>
          <p:nvPr/>
        </p:nvSpPr>
        <p:spPr>
          <a:xfrm>
            <a:off x="5998464" y="3822191"/>
            <a:ext cx="1874519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7375E"/>
            </a:solidFill>
          </a:ln>
          <a:effectLst>
            <a:outerShdw blurRad="101600" dist="19050" dir="5400000" rotWithShape="0">
              <a:srgbClr val="1F3B5C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2000"/>
              </a:lnSpc>
            </a:pPr>
            <a:r>
              <a:rPr sz="1100" b="1" i="0">
                <a:solidFill>
                  <a:srgbClr val="262B2E"/>
                </a:solidFill>
                <a:latin typeface="Calibri"/>
              </a:rPr>
              <a:t>PQC RECOMMENDER</a:t>
            </a:r>
          </a:p>
          <a:p>
            <a:pPr algn="ctr">
              <a:lnSpc>
                <a:spcPct val="92000"/>
              </a:lnSpc>
            </a:pPr>
            <a:r>
              <a:rPr sz="1050" b="0" i="0">
                <a:solidFill>
                  <a:srgbClr val="6E777C"/>
                </a:solidFill>
                <a:latin typeface="Calibri"/>
              </a:rPr>
              <a:t>FIPS 203/204/205, hybrid TLS</a:t>
            </a:r>
          </a:p>
        </p:txBody>
      </p:sp>
      <p:sp>
        <p:nvSpPr>
          <p:cNvPr id="17422" name="Rounded Rectangle 17421"/>
          <p:cNvSpPr/>
          <p:nvPr/>
        </p:nvSpPr>
        <p:spPr>
          <a:xfrm>
            <a:off x="5998464" y="4855464"/>
            <a:ext cx="1874519" cy="868680"/>
          </a:xfrm>
          <a:prstGeom prst="roundRect">
            <a:avLst/>
          </a:prstGeom>
          <a:solidFill>
            <a:srgbClr val="17375E"/>
          </a:solidFill>
          <a:ln w="12700">
            <a:solidFill>
              <a:srgbClr val="17375E"/>
            </a:solidFill>
          </a:ln>
          <a:effectLst>
            <a:outerShdw blurRad="101600" dist="19050" dir="5400000" rotWithShape="0">
              <a:srgbClr val="1F3B5C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2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ANALYST DASHBOARD</a:t>
            </a:r>
          </a:p>
          <a:p>
            <a:pPr algn="ctr">
              <a:lnSpc>
                <a:spcPct val="92000"/>
              </a:lnSpc>
            </a:pPr>
            <a:r>
              <a:rPr sz="1050" b="0" i="0">
                <a:solidFill>
                  <a:srgbClr val="DCE6F1"/>
                </a:solidFill>
                <a:latin typeface="Calibri"/>
              </a:rPr>
              <a:t>ranked migration queue</a:t>
            </a:r>
          </a:p>
        </p:txBody>
      </p:sp>
      <p:sp>
        <p:nvSpPr>
          <p:cNvPr id="17423" name="Rounded Rectangle 17422"/>
          <p:cNvSpPr/>
          <p:nvPr/>
        </p:nvSpPr>
        <p:spPr>
          <a:xfrm>
            <a:off x="3291840" y="1828800"/>
            <a:ext cx="2011680" cy="5669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E777C"/>
            </a:solidFill>
          </a:ln>
          <a:effectLst>
            <a:outerShdw blurRad="101600" dist="19050" dir="5400000" rotWithShape="0">
              <a:srgbClr val="1F3B5C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2000"/>
              </a:lnSpc>
            </a:pPr>
            <a:r>
              <a:rPr sz="1100" b="1" i="0">
                <a:solidFill>
                  <a:srgbClr val="262B2E"/>
                </a:solidFill>
                <a:latin typeface="Calibri"/>
              </a:rPr>
              <a:t>PQC POLICY PACK</a:t>
            </a:r>
          </a:p>
          <a:p>
            <a:pPr algn="ctr">
              <a:lnSpc>
                <a:spcPct val="92000"/>
              </a:lnSpc>
            </a:pPr>
            <a:r>
              <a:rPr sz="1050" b="0" i="0">
                <a:solidFill>
                  <a:srgbClr val="6E777C"/>
                </a:solidFill>
                <a:latin typeface="Calibri"/>
              </a:rPr>
              <a:t>FIPS dates, DST milestones</a:t>
            </a:r>
          </a:p>
        </p:txBody>
      </p:sp>
      <p:cxnSp>
        <p:nvCxnSpPr>
          <p:cNvPr id="17424" name="Connector 17423"/>
          <p:cNvCxnSpPr/>
          <p:nvPr/>
        </p:nvCxnSpPr>
        <p:spPr>
          <a:xfrm>
            <a:off x="2304288" y="3063240"/>
            <a:ext cx="164592" cy="1188719"/>
          </a:xfrm>
          <a:prstGeom prst="line">
            <a:avLst/>
          </a:prstGeom>
          <a:ln w="12700">
            <a:solidFill>
              <a:srgbClr val="4F81BD"/>
            </a:solidFill>
            <a:tailEnd type="triangle" w="sm" h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25" name="Connector 17424"/>
          <p:cNvCxnSpPr/>
          <p:nvPr/>
        </p:nvCxnSpPr>
        <p:spPr>
          <a:xfrm>
            <a:off x="2304288" y="3849624"/>
            <a:ext cx="164592" cy="402335"/>
          </a:xfrm>
          <a:prstGeom prst="line">
            <a:avLst/>
          </a:prstGeom>
          <a:ln w="12700">
            <a:solidFill>
              <a:srgbClr val="4F81BD"/>
            </a:solidFill>
            <a:tailEnd type="triangle" w="sm" h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26" name="Connector 17425"/>
          <p:cNvCxnSpPr/>
          <p:nvPr/>
        </p:nvCxnSpPr>
        <p:spPr>
          <a:xfrm flipV="1">
            <a:off x="2304288" y="4251959"/>
            <a:ext cx="164592" cy="384048"/>
          </a:xfrm>
          <a:prstGeom prst="line">
            <a:avLst/>
          </a:prstGeom>
          <a:ln w="12700">
            <a:solidFill>
              <a:srgbClr val="4F81BD"/>
            </a:solidFill>
            <a:tailEnd type="triangle" w="sm" h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27" name="Connector 17426"/>
          <p:cNvCxnSpPr/>
          <p:nvPr/>
        </p:nvCxnSpPr>
        <p:spPr>
          <a:xfrm flipV="1">
            <a:off x="2304288" y="4251959"/>
            <a:ext cx="164592" cy="1170433"/>
          </a:xfrm>
          <a:prstGeom prst="line">
            <a:avLst/>
          </a:prstGeom>
          <a:ln w="12700">
            <a:solidFill>
              <a:srgbClr val="4F81BD"/>
            </a:solidFill>
            <a:tailEnd type="triangle" w="sm" h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28" name="Connector 17427"/>
          <p:cNvCxnSpPr/>
          <p:nvPr/>
        </p:nvCxnSpPr>
        <p:spPr>
          <a:xfrm>
            <a:off x="4114800" y="4251959"/>
            <a:ext cx="164592" cy="0"/>
          </a:xfrm>
          <a:prstGeom prst="line">
            <a:avLst/>
          </a:prstGeom>
          <a:ln w="12700">
            <a:solidFill>
              <a:srgbClr val="4F81BD"/>
            </a:solidFill>
            <a:tailEnd type="triangle" w="sm" h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29" name="Connector 17428"/>
          <p:cNvCxnSpPr/>
          <p:nvPr/>
        </p:nvCxnSpPr>
        <p:spPr>
          <a:xfrm>
            <a:off x="5056631" y="4754879"/>
            <a:ext cx="0" cy="182881"/>
          </a:xfrm>
          <a:prstGeom prst="line">
            <a:avLst/>
          </a:prstGeom>
          <a:ln w="12700">
            <a:solidFill>
              <a:srgbClr val="4F81BD"/>
            </a:solidFill>
            <a:tailEnd type="triangle" w="sm" h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30" name="Connector 17429"/>
          <p:cNvCxnSpPr/>
          <p:nvPr/>
        </p:nvCxnSpPr>
        <p:spPr>
          <a:xfrm flipV="1">
            <a:off x="5833872" y="3223260"/>
            <a:ext cx="164592" cy="1028699"/>
          </a:xfrm>
          <a:prstGeom prst="line">
            <a:avLst/>
          </a:prstGeom>
          <a:ln w="12700">
            <a:solidFill>
              <a:srgbClr val="4F81BD"/>
            </a:solidFill>
            <a:tailEnd type="triangle" w="sm" h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31" name="Connector 17430"/>
          <p:cNvCxnSpPr/>
          <p:nvPr/>
        </p:nvCxnSpPr>
        <p:spPr>
          <a:xfrm>
            <a:off x="6935723" y="3657600"/>
            <a:ext cx="0" cy="164591"/>
          </a:xfrm>
          <a:prstGeom prst="line">
            <a:avLst/>
          </a:prstGeom>
          <a:ln w="12700">
            <a:solidFill>
              <a:srgbClr val="4F81BD"/>
            </a:solidFill>
            <a:tailEnd type="triangle" w="sm" h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32" name="Connector 17431"/>
          <p:cNvCxnSpPr/>
          <p:nvPr/>
        </p:nvCxnSpPr>
        <p:spPr>
          <a:xfrm>
            <a:off x="6935723" y="4690872"/>
            <a:ext cx="0" cy="164592"/>
          </a:xfrm>
          <a:prstGeom prst="line">
            <a:avLst/>
          </a:prstGeom>
          <a:ln w="12700">
            <a:solidFill>
              <a:srgbClr val="4F81BD"/>
            </a:solidFill>
            <a:tailEnd type="triangle" w="sm" h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33" name="Connector 17432"/>
          <p:cNvCxnSpPr/>
          <p:nvPr/>
        </p:nvCxnSpPr>
        <p:spPr>
          <a:xfrm>
            <a:off x="5303520" y="2112264"/>
            <a:ext cx="694944" cy="1110996"/>
          </a:xfrm>
          <a:prstGeom prst="line">
            <a:avLst/>
          </a:prstGeom>
          <a:ln w="12700">
            <a:solidFill>
              <a:srgbClr val="4F81BD"/>
            </a:solidFill>
            <a:prstDash val="dash"/>
            <a:tailEnd type="triangle" w="sm" h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34" name="Pentagon 17433"/>
          <p:cNvSpPr/>
          <p:nvPr/>
        </p:nvSpPr>
        <p:spPr>
          <a:xfrm>
            <a:off x="8641080" y="1316736"/>
            <a:ext cx="3182112" cy="384048"/>
          </a:xfrm>
          <a:prstGeom prst="homePlate">
            <a:avLst/>
          </a:prstGeom>
          <a:solidFill>
            <a:srgbClr val="1F60A8"/>
          </a:solidFill>
          <a:ln>
            <a:noFill/>
          </a:ln>
          <a:effectLst>
            <a:outerShdw blurRad="101600" dist="25400" dir="5400000" rotWithShape="0">
              <a:srgbClr val="1F3B5C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/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Technologies to be used</a:t>
            </a:r>
          </a:p>
        </p:txBody>
      </p:sp>
      <p:sp>
        <p:nvSpPr>
          <p:cNvPr id="17435" name="Rounded Rectangle 17434"/>
          <p:cNvSpPr/>
          <p:nvPr/>
        </p:nvSpPr>
        <p:spPr>
          <a:xfrm>
            <a:off x="8641080" y="1645919"/>
            <a:ext cx="3182112" cy="173736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>
            <a:outerShdw blurRad="152400" dist="25400" dir="5400000" rotWithShape="0">
              <a:srgbClr val="1F3B5C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0584" rIns="100584" tIns="82296"/>
          <a:lstStyle/>
          <a:p>
            <a:pPr algn="l">
              <a:lnSpc>
                <a:spcPct val="93000"/>
              </a:lnSpc>
              <a:spcAft>
                <a:spcPts val="500"/>
              </a:spcAft>
            </a:pPr>
            <a:r>
              <a:rPr sz="1150" b="1" i="0">
                <a:solidFill>
                  <a:srgbClr val="17375E"/>
                </a:solidFill>
                <a:latin typeface="Calibri"/>
              </a:rPr>
              <a:t>Parsers: </a:t>
            </a:r>
            <a:r>
              <a:rPr sz="1150" b="0" i="0">
                <a:solidFill>
                  <a:srgbClr val="3F4548"/>
                </a:solidFill>
                <a:latin typeface="Calibri"/>
              </a:rPr>
              <a:t>tree-sitter, pyelftools, syft, OpenSSL</a:t>
            </a:r>
          </a:p>
          <a:p>
            <a:pPr algn="l">
              <a:lnSpc>
                <a:spcPct val="93000"/>
              </a:lnSpc>
              <a:spcAft>
                <a:spcPts val="500"/>
              </a:spcAft>
            </a:pPr>
            <a:r>
              <a:rPr sz="1150" b="1" i="0">
                <a:solidFill>
                  <a:srgbClr val="17375E"/>
                </a:solidFill>
                <a:latin typeface="Calibri"/>
              </a:rPr>
              <a:t>Core: </a:t>
            </a:r>
            <a:r>
              <a:rPr sz="1150" b="0" i="0">
                <a:solidFill>
                  <a:srgbClr val="3F4548"/>
                </a:solidFill>
                <a:latin typeface="Calibri"/>
              </a:rPr>
              <a:t>Python 3.12, CycloneDX 1.7 emitter</a:t>
            </a:r>
          </a:p>
          <a:p>
            <a:pPr algn="l">
              <a:lnSpc>
                <a:spcPct val="93000"/>
              </a:lnSpc>
              <a:spcAft>
                <a:spcPts val="500"/>
              </a:spcAft>
            </a:pPr>
            <a:r>
              <a:rPr sz="1150" b="1" i="0">
                <a:solidFill>
                  <a:srgbClr val="17375E"/>
                </a:solidFill>
                <a:latin typeface="Calibri"/>
              </a:rPr>
              <a:t>Interface: </a:t>
            </a:r>
            <a:r>
              <a:rPr sz="1150" b="0" i="0">
                <a:solidFill>
                  <a:srgbClr val="3F4548"/>
                </a:solidFill>
                <a:latin typeface="Calibri"/>
              </a:rPr>
              <a:t>FastAPI, React dashboard, offline CLI</a:t>
            </a:r>
          </a:p>
          <a:p>
            <a:pPr algn="l">
              <a:lnSpc>
                <a:spcPct val="93000"/>
              </a:lnSpc>
              <a:spcAft>
                <a:spcPts val="500"/>
              </a:spcAft>
            </a:pPr>
            <a:r>
              <a:rPr sz="1150" b="1" i="0">
                <a:solidFill>
                  <a:srgbClr val="17375E"/>
                </a:solidFill>
                <a:latin typeface="Calibri"/>
              </a:rPr>
              <a:t>Standards: </a:t>
            </a:r>
            <a:r>
              <a:rPr sz="1150" b="0" i="0">
                <a:solidFill>
                  <a:srgbClr val="3F4548"/>
                </a:solidFill>
                <a:latin typeface="Calibri"/>
              </a:rPr>
              <a:t>FIPS 203/204/205, RFC 10024 hybrid</a:t>
            </a:r>
          </a:p>
        </p:txBody>
      </p:sp>
      <p:sp>
        <p:nvSpPr>
          <p:cNvPr id="17436" name="Pentagon 17435"/>
          <p:cNvSpPr/>
          <p:nvPr/>
        </p:nvSpPr>
        <p:spPr>
          <a:xfrm>
            <a:off x="8641080" y="3621024"/>
            <a:ext cx="3182112" cy="384048"/>
          </a:xfrm>
          <a:prstGeom prst="homePlate">
            <a:avLst/>
          </a:prstGeom>
          <a:solidFill>
            <a:srgbClr val="1F60A8"/>
          </a:solidFill>
          <a:ln>
            <a:noFill/>
          </a:ln>
          <a:effectLst>
            <a:outerShdw blurRad="101600" dist="25400" dir="5400000" rotWithShape="0">
              <a:srgbClr val="1F3B5C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/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Methodology and process for implementation</a:t>
            </a:r>
          </a:p>
        </p:txBody>
      </p:sp>
      <p:sp>
        <p:nvSpPr>
          <p:cNvPr id="17437" name="Rounded Rectangle 17436"/>
          <p:cNvSpPr/>
          <p:nvPr/>
        </p:nvSpPr>
        <p:spPr>
          <a:xfrm>
            <a:off x="8641080" y="3950208"/>
            <a:ext cx="3182112" cy="173736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>
            <a:outerShdw blurRad="152400" dist="25400" dir="5400000" rotWithShape="0">
              <a:srgbClr val="1F3B5C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0584" rIns="100584" tIns="82296"/>
          <a:lstStyle/>
          <a:p>
            <a:pPr algn="l">
              <a:lnSpc>
                <a:spcPct val="93000"/>
              </a:lnSpc>
              <a:spcAft>
                <a:spcPts val="500"/>
              </a:spcAft>
            </a:pPr>
            <a:r>
              <a:rPr sz="1150" b="1" i="0">
                <a:solidFill>
                  <a:srgbClr val="17375E"/>
                </a:solidFill>
                <a:latin typeface="Calibri"/>
              </a:rPr>
              <a:t>01 Collect: </a:t>
            </a:r>
            <a:r>
              <a:rPr sz="1150" b="0" i="0">
                <a:solidFill>
                  <a:srgbClr val="3F4548"/>
                </a:solidFill>
                <a:latin typeface="Calibri"/>
              </a:rPr>
              <a:t>four surfaces, one pass</a:t>
            </a:r>
          </a:p>
          <a:p>
            <a:pPr algn="l">
              <a:lnSpc>
                <a:spcPct val="93000"/>
              </a:lnSpc>
              <a:spcAft>
                <a:spcPts val="500"/>
              </a:spcAft>
            </a:pPr>
            <a:r>
              <a:rPr sz="1150" b="1" i="0">
                <a:solidFill>
                  <a:srgbClr val="17375E"/>
                </a:solidFill>
                <a:latin typeface="Calibri"/>
              </a:rPr>
              <a:t>02 Correlate: </a:t>
            </a:r>
            <a:r>
              <a:rPr sz="1150" b="0" i="0">
                <a:solidFill>
                  <a:srgbClr val="3F4548"/>
                </a:solidFill>
                <a:latin typeface="Calibri"/>
              </a:rPr>
              <a:t>dedupe, score, emit CBOM</a:t>
            </a:r>
          </a:p>
          <a:p>
            <a:pPr algn="l">
              <a:lnSpc>
                <a:spcPct val="93000"/>
              </a:lnSpc>
              <a:spcAft>
                <a:spcPts val="500"/>
              </a:spcAft>
            </a:pPr>
            <a:r>
              <a:rPr sz="1150" b="1" i="0">
                <a:solidFill>
                  <a:srgbClr val="17375E"/>
                </a:solidFill>
                <a:latin typeface="Calibri"/>
              </a:rPr>
              <a:t>03 Assess: </a:t>
            </a:r>
            <a:r>
              <a:rPr sz="1150" b="0" i="0">
                <a:solidFill>
                  <a:srgbClr val="3F4548"/>
                </a:solidFill>
                <a:latin typeface="Calibri"/>
              </a:rPr>
              <a:t>Mosca X+Y&gt;Z, 2030 deprecation</a:t>
            </a:r>
          </a:p>
          <a:p>
            <a:pPr algn="l">
              <a:lnSpc>
                <a:spcPct val="93000"/>
              </a:lnSpc>
              <a:spcAft>
                <a:spcPts val="500"/>
              </a:spcAft>
            </a:pPr>
            <a:r>
              <a:rPr sz="1150" b="1" i="0">
                <a:solidFill>
                  <a:srgbClr val="17375E"/>
                </a:solidFill>
                <a:latin typeface="Calibri"/>
              </a:rPr>
              <a:t>04 Prioritise: </a:t>
            </a:r>
            <a:r>
              <a:rPr sz="1150" b="0" i="0">
                <a:solidFill>
                  <a:srgbClr val="3F4548"/>
                </a:solidFill>
                <a:latin typeface="Calibri"/>
              </a:rPr>
              <a:t>rank swaps by payload and latency delta</a:t>
            </a:r>
          </a:p>
        </p:txBody>
      </p:sp>
      <p:pic>
        <p:nvPicPr>
          <p:cNvPr id="17438" name="Picture 17437" descr="pyth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77655" y="5742432"/>
            <a:ext cx="365760" cy="365760"/>
          </a:xfrm>
          <a:prstGeom prst="rect">
            <a:avLst/>
          </a:prstGeom>
        </p:spPr>
      </p:pic>
      <p:pic>
        <p:nvPicPr>
          <p:cNvPr id="17439" name="Picture 17438" descr="pytorch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34855" y="5742432"/>
            <a:ext cx="365760" cy="365760"/>
          </a:xfrm>
          <a:prstGeom prst="rect">
            <a:avLst/>
          </a:prstGeom>
        </p:spPr>
      </p:pic>
      <p:pic>
        <p:nvPicPr>
          <p:cNvPr id="17440" name="Picture 17439" descr="fastapi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92055" y="5742432"/>
            <a:ext cx="365760" cy="365760"/>
          </a:xfrm>
          <a:prstGeom prst="rect">
            <a:avLst/>
          </a:prstGeom>
        </p:spPr>
      </p:pic>
      <p:pic>
        <p:nvPicPr>
          <p:cNvPr id="17441" name="Picture 17440" descr="reac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49255" y="5742432"/>
            <a:ext cx="365760" cy="365760"/>
          </a:xfrm>
          <a:prstGeom prst="rect">
            <a:avLst/>
          </a:prstGeom>
        </p:spPr>
      </p:pic>
      <p:pic>
        <p:nvPicPr>
          <p:cNvPr id="17442" name="Picture 17441" descr="postgresql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506455" y="5742432"/>
            <a:ext cx="365760" cy="365760"/>
          </a:xfrm>
          <a:prstGeom prst="rect">
            <a:avLst/>
          </a:prstGeom>
        </p:spPr>
      </p:pic>
      <p:pic>
        <p:nvPicPr>
          <p:cNvPr id="17443" name="Picture 17442" descr="docker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963655" y="5742432"/>
            <a:ext cx="365760" cy="365760"/>
          </a:xfrm>
          <a:prstGeom prst="rect">
            <a:avLst/>
          </a:prstGeom>
        </p:spPr>
      </p:pic>
      <p:pic>
        <p:nvPicPr>
          <p:cNvPr id="17444" name="Picture 17443" descr="linux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420855" y="5742432"/>
            <a:ext cx="365760" cy="3657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5" name="Rectangle 17414"/>
          <p:cNvSpPr/>
          <p:nvPr/>
        </p:nvSpPr>
        <p:spPr>
          <a:xfrm>
            <a:off x="0" y="1115568"/>
            <a:ext cx="12192609" cy="4663440"/>
          </a:xfrm>
          <a:prstGeom prst="rect">
            <a:avLst/>
          </a:prstGeom>
          <a:solidFill>
            <a:srgbClr val="EC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b="1" sz="1100"/>
              <a:t>&lt;TEAM&gt;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Pentagon 17409"/>
          <p:cNvSpPr/>
          <p:nvPr/>
        </p:nvSpPr>
        <p:spPr>
          <a:xfrm>
            <a:off x="365760" y="1261872"/>
            <a:ext cx="3950208" cy="384048"/>
          </a:xfrm>
          <a:prstGeom prst="homePlate">
            <a:avLst/>
          </a:prstGeom>
          <a:solidFill>
            <a:srgbClr val="1F60A8"/>
          </a:solidFill>
          <a:ln>
            <a:noFill/>
          </a:ln>
          <a:effectLst>
            <a:outerShdw blurRad="101600" dist="25400" dir="5400000" rotWithShape="0">
              <a:srgbClr val="1F3B5C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Analysis of the Feasibility of the Idea</a:t>
            </a:r>
          </a:p>
        </p:txBody>
      </p:sp>
      <p:sp>
        <p:nvSpPr>
          <p:cNvPr id="17411" name="Rounded Rectangle 17410"/>
          <p:cNvSpPr/>
          <p:nvPr/>
        </p:nvSpPr>
        <p:spPr>
          <a:xfrm>
            <a:off x="365760" y="1682496"/>
            <a:ext cx="3950208" cy="1854525"/>
          </a:xfrm>
          <a:prstGeom prst="roundRect">
            <a:avLst/>
          </a:prstGeom>
          <a:solidFill>
            <a:srgbClr val="FFFFFF"/>
          </a:solidFill>
          <a:ln>
            <a:noFill/>
          </a:ln>
          <a:effectLst>
            <a:outerShdw blurRad="152400" dist="25400" dir="5400000" rotWithShape="0">
              <a:srgbClr val="1F3B5C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0584" rIns="100584" tIns="82296"/>
          <a:lstStyle/>
          <a:p>
            <a:pPr algn="l">
              <a:lnSpc>
                <a:spcPct val="93000"/>
              </a:lnSpc>
              <a:spcAft>
                <a:spcPts val="800"/>
              </a:spcAft>
            </a:pPr>
            <a:r>
              <a:rPr sz="1200" b="1" i="0">
                <a:solidFill>
                  <a:srgbClr val="17375E"/>
                </a:solidFill>
                <a:latin typeface="Calibri"/>
              </a:rPr>
              <a:t>Technical: </a:t>
            </a:r>
            <a:r>
              <a:rPr sz="1200" b="0" i="0">
                <a:solidFill>
                  <a:srgbClr val="3F4548"/>
                </a:solidFill>
                <a:latin typeface="Calibri"/>
              </a:rPr>
              <a:t>Working prototype: 4 collectors, 109 tests green, CycloneDX 1.7 output</a:t>
            </a:r>
          </a:p>
          <a:p>
            <a:pPr algn="l">
              <a:lnSpc>
                <a:spcPct val="93000"/>
              </a:lnSpc>
              <a:spcAft>
                <a:spcPts val="800"/>
              </a:spcAft>
            </a:pPr>
            <a:r>
              <a:rPr sz="1200" b="1" i="0">
                <a:solidFill>
                  <a:srgbClr val="17375E"/>
                </a:solidFill>
                <a:latin typeface="Calibri"/>
              </a:rPr>
              <a:t>Operational: </a:t>
            </a:r>
            <a:r>
              <a:rPr sz="1200" b="0" i="0">
                <a:solidFill>
                  <a:srgbClr val="3F4548"/>
                </a:solidFill>
                <a:latin typeface="Calibri"/>
              </a:rPr>
              <a:t>One agentless Python CLI; on-premises, CPU-only, no GPU</a:t>
            </a:r>
          </a:p>
          <a:p>
            <a:pPr algn="l">
              <a:lnSpc>
                <a:spcPct val="93000"/>
              </a:lnSpc>
              <a:spcAft>
                <a:spcPts val="800"/>
              </a:spcAft>
            </a:pPr>
            <a:r>
              <a:rPr sz="1200" b="1" i="0">
                <a:solidFill>
                  <a:srgbClr val="17375E"/>
                </a:solidFill>
                <a:latin typeface="Calibri"/>
              </a:rPr>
              <a:t>Economic: </a:t>
            </a:r>
            <a:r>
              <a:rPr sz="1200" b="0" i="0">
                <a:solidFill>
                  <a:srgbClr val="3F4548"/>
                </a:solidFill>
                <a:latin typeface="Calibri"/>
              </a:rPr>
              <a:t>Apache-2.0 stack; ~6 dev-months to pilot; zero licence cost</a:t>
            </a:r>
          </a:p>
        </p:txBody>
      </p:sp>
      <p:sp>
        <p:nvSpPr>
          <p:cNvPr id="17412" name="Rectangle 17411"/>
          <p:cNvSpPr/>
          <p:nvPr/>
        </p:nvSpPr>
        <p:spPr>
          <a:xfrm>
            <a:off x="365760" y="4078224"/>
            <a:ext cx="3950208" cy="1463040"/>
          </a:xfrm>
          <a:prstGeom prst="rect">
            <a:avLst/>
          </a:prstGeom>
          <a:solidFill>
            <a:srgbClr val="DCE6F1"/>
          </a:solidFill>
          <a:ln w="12700">
            <a:solidFill>
              <a:srgbClr val="4E81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0584" rIns="100584"/>
          <a:lstStyle/>
          <a:p>
            <a:pPr algn="l">
              <a:lnSpc>
                <a:spcPct val="95000"/>
              </a:lnSpc>
            </a:pPr>
            <a:r>
              <a:rPr sz="1200" b="1" i="0">
                <a:solidFill>
                  <a:srgbClr val="4E8142"/>
                </a:solidFill>
                <a:latin typeface="Calibri"/>
              </a:rPr>
              <a:t>Sustainability:  </a:t>
            </a:r>
            <a:r>
              <a:rPr sz="1200" b="0" i="0">
                <a:solidFill>
                  <a:srgbClr val="3F4548"/>
                </a:solidFill>
                <a:latin typeface="Calibri"/>
              </a:rPr>
              <a:t>Apache-2.0 and agentless, so a PSU or state agency adopts it without procurement. Every CII operator faces the same 2027 milestone, which makes the first user the same as the hundredth.</a:t>
            </a:r>
          </a:p>
        </p:txBody>
      </p:sp>
      <p:sp>
        <p:nvSpPr>
          <p:cNvPr id="17413" name="Pentagon 17412"/>
          <p:cNvSpPr/>
          <p:nvPr/>
        </p:nvSpPr>
        <p:spPr>
          <a:xfrm>
            <a:off x="4498848" y="1261872"/>
            <a:ext cx="7324344" cy="384048"/>
          </a:xfrm>
          <a:prstGeom prst="homePlate">
            <a:avLst/>
          </a:prstGeom>
          <a:solidFill>
            <a:srgbClr val="1F60A8"/>
          </a:solidFill>
          <a:ln>
            <a:noFill/>
          </a:ln>
          <a:effectLst>
            <a:outerShdw blurRad="101600" dist="25400" dir="5400000" rotWithShape="0">
              <a:srgbClr val="1F3B5C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/>
          <a:lstStyle/>
          <a:p>
            <a:pPr algn="ctr"/>
            <a:r>
              <a:rPr sz="1150" b="1" i="0">
                <a:solidFill>
                  <a:srgbClr val="FFFFFF"/>
                </a:solidFill>
                <a:latin typeface="Calibri"/>
              </a:rPr>
              <a:t>Potential Challenges and Risks  →  Strategies for Overcoming These Challenges</a:t>
            </a:r>
          </a:p>
        </p:txBody>
      </p:sp>
      <p:graphicFrame>
        <p:nvGraphicFramePr>
          <p:cNvPr id="17414" name="Table 17413"/>
          <p:cNvGraphicFramePr>
            <a:graphicFrameLocks noGrp="1"/>
          </p:cNvGraphicFramePr>
          <p:nvPr/>
        </p:nvGraphicFramePr>
        <p:xfrm>
          <a:off x="4498848" y="1591056"/>
          <a:ext cx="7324344" cy="39502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4398264"/>
              </a:tblGrid>
              <a:tr h="65836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Potential challenge / risk</a:t>
                      </a:r>
                    </a:p>
                  </a:txBody>
                  <a:tcPr marL="73152" marR="73152" anchor="ctr">
                    <a:solidFill>
                      <a:srgbClr val="17375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Strategy to overcome it</a:t>
                      </a:r>
                    </a:p>
                  </a:txBody>
                  <a:tcPr marL="73152" marR="73152" anchor="ctr">
                    <a:solidFill>
                      <a:srgbClr val="17375E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C0504D"/>
                          </a:solidFill>
                          <a:latin typeface="Calibri"/>
                        </a:rPr>
                        <a:t>Stripped or static binaries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F4548"/>
                          </a:solidFill>
                          <a:latin typeface="Calibri"/>
                        </a:rPr>
                        <a:t>FindCrypt constants + DT_NEEDED; each hit carries a confidence score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C0504D"/>
                          </a:solidFill>
                          <a:latin typeface="Calibri"/>
                        </a:rPr>
                        <a:t>CBOMkit already exists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F4548"/>
                          </a:solidFill>
                          <a:latin typeface="Calibri"/>
                        </a:rPr>
                        <a:t>We add Mosca scoring, PQC recommender, C/C++ AST - CBOMkit has none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C0504D"/>
                          </a:solidFill>
                          <a:latin typeface="Calibri"/>
                        </a:rPr>
                        <a:t>Mosca's Z is contested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F4548"/>
                          </a:solidFill>
                          <a:latin typeface="Calibri"/>
                        </a:rPr>
                        <a:t>Z is a user input; GRI 2025 expert range, not a constant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C0504D"/>
                          </a:solidFill>
                          <a:latin typeface="Calibri"/>
                        </a:rPr>
                        <a:t>Air-gapped deployment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F4548"/>
                          </a:solidFill>
                          <a:latin typeface="Calibri"/>
                        </a:rPr>
                        <a:t>Offline wheel bundle, pinned tree-sitter grammars; zero network at scan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C0504D"/>
                          </a:solidFill>
                          <a:latin typeface="Calibri"/>
                        </a:rPr>
                        <a:t>AST false positives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F4548"/>
                          </a:solidFill>
                          <a:latin typeface="Calibri"/>
                        </a:rPr>
                        <a:t>Cross-surface dedupe; validation corpus of 20 labelled repos, metrics per collector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6" name="Rectangle 17415"/>
          <p:cNvSpPr/>
          <p:nvPr/>
        </p:nvSpPr>
        <p:spPr>
          <a:xfrm>
            <a:off x="0" y="1115568"/>
            <a:ext cx="12192609" cy="4663440"/>
          </a:xfrm>
          <a:prstGeom prst="rect">
            <a:avLst/>
          </a:prstGeom>
          <a:solidFill>
            <a:srgbClr val="EC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BENEFITS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b="1" sz="1100"/>
              <a:t>&lt;TEAM&gt;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Pentagon 17409"/>
          <p:cNvSpPr/>
          <p:nvPr/>
        </p:nvSpPr>
        <p:spPr>
          <a:xfrm>
            <a:off x="365760" y="1261872"/>
            <a:ext cx="5797296" cy="384048"/>
          </a:xfrm>
          <a:prstGeom prst="homePlate">
            <a:avLst/>
          </a:prstGeom>
          <a:solidFill>
            <a:srgbClr val="1F60A8"/>
          </a:solidFill>
          <a:ln>
            <a:noFill/>
          </a:ln>
          <a:effectLst>
            <a:outerShdw blurRad="101600" dist="25400" dir="5400000" rotWithShape="0">
              <a:srgbClr val="1F3B5C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/>
          <a:lstStyle/>
          <a:p>
            <a:pPr algn="ctr"/>
            <a:r>
              <a:rPr sz="1150" b="1" i="0">
                <a:solidFill>
                  <a:srgbClr val="FFFFFF"/>
                </a:solidFill>
                <a:latin typeface="Calibri"/>
              </a:rPr>
              <a:t>Potential Impact on the Target Audience</a:t>
            </a:r>
          </a:p>
        </p:txBody>
      </p:sp>
      <p:sp>
        <p:nvSpPr>
          <p:cNvPr id="17411" name="Rounded Rectangle 17410"/>
          <p:cNvSpPr/>
          <p:nvPr/>
        </p:nvSpPr>
        <p:spPr>
          <a:xfrm>
            <a:off x="365760" y="1682496"/>
            <a:ext cx="5797296" cy="13716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>
            <a:outerShdw blurRad="152400" dist="25400" dir="5400000" rotWithShape="0">
              <a:srgbClr val="1F3B5C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0584" rIns="100584" tIns="82296"/>
          <a:lstStyle/>
          <a:p>
            <a:pPr algn="l">
              <a:lnSpc>
                <a:spcPct val="93000"/>
              </a:lnSpc>
              <a:spcAft>
                <a:spcPts val="700"/>
              </a:spcAft>
            </a:pPr>
            <a:r>
              <a:rPr sz="1200" b="1" i="0">
                <a:solidFill>
                  <a:srgbClr val="17375E"/>
                </a:solidFill>
                <a:latin typeface="Calibri"/>
              </a:rPr>
              <a:t>Inventory gap: </a:t>
            </a:r>
            <a:r>
              <a:rPr sz="1200" b="0" i="0">
                <a:solidFill>
                  <a:srgbClr val="3F4548"/>
                </a:solidFill>
                <a:latin typeface="Calibri"/>
              </a:rPr>
              <a:t>only 44% hold a crypto inventory (DigiCert 2026)</a:t>
            </a:r>
          </a:p>
          <a:p>
            <a:pPr algn="l">
              <a:lnSpc>
                <a:spcPct val="93000"/>
              </a:lnSpc>
              <a:spcAft>
                <a:spcPts val="700"/>
              </a:spcAft>
            </a:pPr>
            <a:r>
              <a:rPr sz="1200" b="1" i="0">
                <a:solidFill>
                  <a:srgbClr val="17375E"/>
                </a:solidFill>
                <a:latin typeface="Calibri"/>
              </a:rPr>
              <a:t>Strategy gap: </a:t>
            </a:r>
            <a:r>
              <a:rPr sz="1200" b="0" i="0">
                <a:solidFill>
                  <a:srgbClr val="3F4548"/>
                </a:solidFill>
                <a:latin typeface="Calibri"/>
              </a:rPr>
              <a:t>95% have no quantum strategy (ISACA 2025)</a:t>
            </a:r>
          </a:p>
          <a:p>
            <a:pPr algn="l">
              <a:lnSpc>
                <a:spcPct val="93000"/>
              </a:lnSpc>
              <a:spcAft>
                <a:spcPts val="700"/>
              </a:spcAft>
            </a:pPr>
            <a:r>
              <a:rPr sz="1200" b="1" i="0">
                <a:solidFill>
                  <a:srgbClr val="17375E"/>
                </a:solidFill>
                <a:latin typeface="Calibri"/>
              </a:rPr>
              <a:t>Mandate: </a:t>
            </a:r>
            <a:r>
              <a:rPr sz="1200" b="0" i="0">
                <a:solidFill>
                  <a:srgbClr val="3F4548"/>
                </a:solidFill>
                <a:latin typeface="Calibri"/>
              </a:rPr>
              <a:t>vendor CBOMs from FY 2027-28 (DST NQM, 2026)</a:t>
            </a:r>
          </a:p>
        </p:txBody>
      </p:sp>
      <p:sp>
        <p:nvSpPr>
          <p:cNvPr id="17412" name="Pentagon 17411"/>
          <p:cNvSpPr/>
          <p:nvPr/>
        </p:nvSpPr>
        <p:spPr>
          <a:xfrm>
            <a:off x="365760" y="3602736"/>
            <a:ext cx="5797296" cy="384048"/>
          </a:xfrm>
          <a:prstGeom prst="homePlate">
            <a:avLst/>
          </a:prstGeom>
          <a:solidFill>
            <a:srgbClr val="9C6A0F"/>
          </a:solidFill>
          <a:ln>
            <a:noFill/>
          </a:ln>
          <a:effectLst>
            <a:outerShdw blurRad="101600" dist="25400" dir="5400000" rotWithShape="0">
              <a:srgbClr val="1F3B5C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Illustrative Deployment Profile — CII State Data Centre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365760" y="3931920"/>
            <a:ext cx="5797296" cy="1609344"/>
          </a:xfrm>
          <a:prstGeom prst="roundRect">
            <a:avLst/>
          </a:prstGeom>
          <a:solidFill>
            <a:srgbClr val="FDF5E6"/>
          </a:solidFill>
          <a:ln w="15875">
            <a:solidFill>
              <a:srgbClr val="9C6A0F"/>
            </a:solidFill>
          </a:ln>
          <a:effectLst>
            <a:outerShdw blurRad="127000" dist="25400" dir="5400000" rotWithShape="0">
              <a:srgbClr val="1F3B5C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0584" rIns="100584" tIns="82296"/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1200" b="1" i="0">
                <a:solidFill>
                  <a:srgbClr val="9C6A0F"/>
                </a:solidFill>
                <a:latin typeface="Calibri"/>
              </a:rPr>
              <a:t>Typical estate: </a:t>
            </a:r>
            <a:r>
              <a:rPr sz="1200" b="0" i="0">
                <a:solidFill>
                  <a:srgbClr val="3F4548"/>
                </a:solidFill>
                <a:latin typeface="Calibri"/>
              </a:rPr>
              <a:t>412 repos, 190 images, 2,300 TLS endpoints catalogued from zero</a:t>
            </a:r>
          </a:p>
          <a:p>
            <a:pPr>
              <a:lnSpc>
                <a:spcPct val="95000"/>
              </a:lnSpc>
            </a:pPr>
            <a:r>
              <a:rPr sz="1100" b="0" i="1">
                <a:solidFill>
                  <a:srgbClr val="6E777C"/>
                </a:solidFill>
                <a:latin typeface="Calibri"/>
              </a:rPr>
              <a:t>Illustrative profile — not a completed deployment.</a:t>
            </a:r>
          </a:p>
        </p:txBody>
      </p:sp>
      <p:sp>
        <p:nvSpPr>
          <p:cNvPr id="17414" name="Pentagon 17413"/>
          <p:cNvSpPr/>
          <p:nvPr/>
        </p:nvSpPr>
        <p:spPr>
          <a:xfrm>
            <a:off x="6309360" y="1261872"/>
            <a:ext cx="5513832" cy="384048"/>
          </a:xfrm>
          <a:prstGeom prst="homePlate">
            <a:avLst/>
          </a:prstGeom>
          <a:solidFill>
            <a:srgbClr val="1F60A8"/>
          </a:solidFill>
          <a:ln>
            <a:noFill/>
          </a:ln>
          <a:effectLst>
            <a:outerShdw blurRad="101600" dist="25400" dir="5400000" rotWithShape="0">
              <a:srgbClr val="1F3B5C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/>
          <a:lstStyle/>
          <a:p>
            <a:pPr algn="ctr"/>
            <a:r>
              <a:rPr sz="1150" b="1" i="0">
                <a:solidFill>
                  <a:srgbClr val="FFFFFF"/>
                </a:solidFill>
                <a:latin typeface="Calibri"/>
              </a:rPr>
              <a:t>Benefits of the Solution</a:t>
            </a:r>
          </a:p>
        </p:txBody>
      </p:sp>
      <p:sp>
        <p:nvSpPr>
          <p:cNvPr id="17415" name="Rounded Rectangle 17414"/>
          <p:cNvSpPr/>
          <p:nvPr/>
        </p:nvSpPr>
        <p:spPr>
          <a:xfrm>
            <a:off x="6309360" y="1682496"/>
            <a:ext cx="5513832" cy="2002607"/>
          </a:xfrm>
          <a:prstGeom prst="roundRect">
            <a:avLst/>
          </a:prstGeom>
          <a:solidFill>
            <a:srgbClr val="FFFFFF"/>
          </a:solidFill>
          <a:ln>
            <a:noFill/>
          </a:ln>
          <a:effectLst>
            <a:outerShdw blurRad="152400" dist="25400" dir="5400000" rotWithShape="0">
              <a:srgbClr val="1F3B5C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0584" rIns="100584" tIns="82296"/>
          <a:lstStyle/>
          <a:p>
            <a:pPr algn="l">
              <a:lnSpc>
                <a:spcPct val="93000"/>
              </a:lnSpc>
              <a:spcAft>
                <a:spcPts val="700"/>
              </a:spcAft>
            </a:pPr>
            <a:r>
              <a:rPr sz="1200" b="1" i="0">
                <a:solidFill>
                  <a:srgbClr val="17375E"/>
                </a:solidFill>
                <a:latin typeface="Calibri"/>
              </a:rPr>
              <a:t>Strategic: </a:t>
            </a:r>
            <a:r>
              <a:rPr sz="1200" b="0" i="0">
                <a:solidFill>
                  <a:srgbClr val="3F4548"/>
                </a:solidFill>
                <a:latin typeface="Calibri"/>
              </a:rPr>
              <a:t>on-prem and sovereign; no foreign agent in CII networks</a:t>
            </a:r>
          </a:p>
          <a:p>
            <a:pPr algn="l">
              <a:lnSpc>
                <a:spcPct val="93000"/>
              </a:lnSpc>
              <a:spcAft>
                <a:spcPts val="700"/>
              </a:spcAft>
            </a:pPr>
            <a:r>
              <a:rPr sz="1200" b="1" i="0">
                <a:solidFill>
                  <a:srgbClr val="17375E"/>
                </a:solidFill>
                <a:latin typeface="Calibri"/>
              </a:rPr>
              <a:t>Economic: </a:t>
            </a:r>
            <a:r>
              <a:rPr sz="1200" b="0" i="0">
                <a:solidFill>
                  <a:srgbClr val="3F4548"/>
                </a:solidFill>
                <a:latin typeface="Calibri"/>
              </a:rPr>
              <a:t>Apache-2.0; no per-endpoint licence fee</a:t>
            </a:r>
          </a:p>
          <a:p>
            <a:pPr algn="l">
              <a:lnSpc>
                <a:spcPct val="93000"/>
              </a:lnSpc>
              <a:spcAft>
                <a:spcPts val="700"/>
              </a:spcAft>
            </a:pPr>
            <a:r>
              <a:rPr sz="1200" b="1" i="0">
                <a:solidFill>
                  <a:srgbClr val="17375E"/>
                </a:solidFill>
                <a:latin typeface="Calibri"/>
              </a:rPr>
              <a:t>Operational: </a:t>
            </a:r>
            <a:r>
              <a:rPr sz="1200" b="0" i="0">
                <a:solidFill>
                  <a:srgbClr val="3F4548"/>
                </a:solidFill>
                <a:latin typeface="Calibri"/>
              </a:rPr>
              <a:t>one scan spans source, binaries, containers, live TLS</a:t>
            </a:r>
          </a:p>
          <a:p>
            <a:pPr algn="l">
              <a:lnSpc>
                <a:spcPct val="93000"/>
              </a:lnSpc>
              <a:spcAft>
                <a:spcPts val="700"/>
              </a:spcAft>
            </a:pPr>
            <a:r>
              <a:rPr sz="1200" b="1" i="0">
                <a:solidFill>
                  <a:srgbClr val="17375E"/>
                </a:solidFill>
                <a:latin typeface="Calibri"/>
              </a:rPr>
              <a:t>Ecosystem: </a:t>
            </a:r>
            <a:r>
              <a:rPr sz="1200" b="0" i="0">
                <a:solidFill>
                  <a:srgbClr val="3F4548"/>
                </a:solidFill>
                <a:latin typeface="Calibri"/>
              </a:rPr>
              <a:t>CycloneDX 1.7 CBOM any auditor can reload</a:t>
            </a:r>
          </a:p>
          <a:p>
            <a:pPr algn="l">
              <a:lnSpc>
                <a:spcPct val="93000"/>
              </a:lnSpc>
              <a:spcAft>
                <a:spcPts val="700"/>
              </a:spcAft>
            </a:pPr>
            <a:r>
              <a:rPr sz="1200" b="1" i="0">
                <a:solidFill>
                  <a:srgbClr val="17375E"/>
                </a:solidFill>
                <a:latin typeface="Calibri"/>
              </a:rPr>
              <a:t>Operations: </a:t>
            </a:r>
            <a:r>
              <a:rPr sz="1200" b="0" i="0">
                <a:solidFill>
                  <a:srgbClr val="3F4548"/>
                </a:solidFill>
                <a:latin typeface="Calibri"/>
              </a:rPr>
              <a:t>run by the agency SOC as a quarterly scan; no licence, no per-endpoint fee</a:t>
            </a:r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7" name="Rectangle 17416"/>
          <p:cNvSpPr/>
          <p:nvPr/>
        </p:nvSpPr>
        <p:spPr>
          <a:xfrm>
            <a:off x="0" y="1115568"/>
            <a:ext cx="12192609" cy="4992624"/>
          </a:xfrm>
          <a:prstGeom prst="rect">
            <a:avLst/>
          </a:prstGeom>
          <a:solidFill>
            <a:srgbClr val="EC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 AND REFERENCES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b="1" sz="1100"/>
              <a:t>&lt;TEAM&gt;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Pentagon 17409"/>
          <p:cNvSpPr/>
          <p:nvPr/>
        </p:nvSpPr>
        <p:spPr>
          <a:xfrm>
            <a:off x="365760" y="1243584"/>
            <a:ext cx="5669280" cy="384048"/>
          </a:xfrm>
          <a:prstGeom prst="homePlate">
            <a:avLst/>
          </a:prstGeom>
          <a:solidFill>
            <a:srgbClr val="1F60A8"/>
          </a:solidFill>
          <a:ln>
            <a:noFill/>
          </a:ln>
          <a:effectLst>
            <a:outerShdw blurRad="101600" dist="25400" dir="5400000" rotWithShape="0">
              <a:srgbClr val="1F3B5C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/>
          <a:lstStyle/>
          <a:p>
            <a:pPr algn="ctr"/>
            <a:r>
              <a:rPr sz="1150" b="1" i="0">
                <a:solidFill>
                  <a:srgbClr val="FFFFFF"/>
                </a:solidFill>
                <a:latin typeface="Calibri"/>
              </a:rPr>
              <a:t>Details / Links of the Reference and Research Work</a:t>
            </a:r>
          </a:p>
        </p:txBody>
      </p:sp>
      <p:sp>
        <p:nvSpPr>
          <p:cNvPr id="17411" name="Rounded Rectangle 17410"/>
          <p:cNvSpPr/>
          <p:nvPr/>
        </p:nvSpPr>
        <p:spPr>
          <a:xfrm>
            <a:off x="365760" y="1664208"/>
            <a:ext cx="5669280" cy="20116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>
            <a:outerShdw blurRad="152400" dist="25400" dir="5400000" rotWithShape="0">
              <a:srgbClr val="1F3B5C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0584" rIns="100584" tIns="82296"/>
          <a:lstStyle/>
          <a:p>
            <a:pPr algn="l">
              <a:lnSpc>
                <a:spcPct val="93000"/>
              </a:lnSpc>
              <a:spcAft>
                <a:spcPts val="700"/>
              </a:spcAft>
            </a:pPr>
            <a:r>
              <a:rPr sz="1200" b="1" i="0">
                <a:solidFill>
                  <a:srgbClr val="17375E"/>
                </a:solidFill>
                <a:latin typeface="Calibri"/>
              </a:rPr>
              <a:t>DST NQM: </a:t>
            </a:r>
            <a:r>
              <a:rPr sz="1200" b="0" i="0">
                <a:solidFill>
                  <a:srgbClr val="3F4548"/>
                </a:solidFill>
                <a:latin typeface="Calibri"/>
              </a:rPr>
              <a:t>Quantum Safe Ecosystem Task Force report, 4 Feb 2026</a:t>
            </a:r>
          </a:p>
          <a:p>
            <a:pPr algn="l">
              <a:lnSpc>
                <a:spcPct val="93000"/>
              </a:lnSpc>
              <a:spcAft>
                <a:spcPts val="700"/>
              </a:spcAft>
            </a:pPr>
            <a:r>
              <a:rPr sz="1200" b="1" i="0">
                <a:solidFill>
                  <a:srgbClr val="17375E"/>
                </a:solidFill>
                <a:latin typeface="Calibri"/>
              </a:rPr>
              <a:t>NIST: </a:t>
            </a:r>
            <a:r>
              <a:rPr sz="1200" b="0" i="0">
                <a:solidFill>
                  <a:srgbClr val="3F4548"/>
                </a:solidFill>
                <a:latin typeface="Calibri"/>
              </a:rPr>
              <a:t>FIPS 203 ML-KEM / 204 ML-DSA / 205 SLH-DSA, Aug 2024</a:t>
            </a:r>
          </a:p>
          <a:p>
            <a:pPr algn="l">
              <a:lnSpc>
                <a:spcPct val="93000"/>
              </a:lnSpc>
              <a:spcAft>
                <a:spcPts val="700"/>
              </a:spcAft>
            </a:pPr>
            <a:r>
              <a:rPr sz="1200" b="1" i="0">
                <a:solidFill>
                  <a:srgbClr val="17375E"/>
                </a:solidFill>
                <a:latin typeface="Calibri"/>
              </a:rPr>
              <a:t>IETF: </a:t>
            </a:r>
            <a:r>
              <a:rPr sz="1200" b="0" i="0">
                <a:solidFill>
                  <a:srgbClr val="3F4548"/>
                </a:solidFill>
                <a:latin typeface="Calibri"/>
              </a:rPr>
              <a:t>RFC 10024, PQ/T Hybrid Key Agreement for TLS 1.3, Aug 2026</a:t>
            </a:r>
          </a:p>
          <a:p>
            <a:pPr algn="l">
              <a:lnSpc>
                <a:spcPct val="93000"/>
              </a:lnSpc>
              <a:spcAft>
                <a:spcPts val="700"/>
              </a:spcAft>
            </a:pPr>
            <a:r>
              <a:rPr sz="1200" b="1" i="0">
                <a:solidFill>
                  <a:srgbClr val="17375E"/>
                </a:solidFill>
                <a:latin typeface="Calibri"/>
              </a:rPr>
              <a:t>ECMA-424: </a:t>
            </a:r>
            <a:r>
              <a:rPr sz="1200" b="0" i="0">
                <a:solidFill>
                  <a:srgbClr val="3F4548"/>
                </a:solidFill>
                <a:latin typeface="Calibri"/>
              </a:rPr>
              <a:t>v1.7 = 2nd edition Dec 2025; v1.6 = 1st edition Jun 2024</a:t>
            </a:r>
          </a:p>
        </p:txBody>
      </p:sp>
      <p:sp>
        <p:nvSpPr>
          <p:cNvPr id="17412" name="Pentagon 17411"/>
          <p:cNvSpPr/>
          <p:nvPr/>
        </p:nvSpPr>
        <p:spPr>
          <a:xfrm>
            <a:off x="6153912" y="1243584"/>
            <a:ext cx="5669280" cy="384048"/>
          </a:xfrm>
          <a:prstGeom prst="homePlate">
            <a:avLst/>
          </a:prstGeom>
          <a:solidFill>
            <a:srgbClr val="1F60A8"/>
          </a:solidFill>
          <a:ln>
            <a:noFill/>
          </a:ln>
          <a:effectLst>
            <a:outerShdw blurRad="101600" dist="25400" dir="5400000" rotWithShape="0">
              <a:srgbClr val="1F3B5C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/>
          <a:lstStyle/>
          <a:p>
            <a:pPr algn="ctr"/>
            <a:r>
              <a:rPr sz="1150" b="1" i="0">
                <a:solidFill>
                  <a:srgbClr val="FFFFFF"/>
                </a:solidFill>
                <a:latin typeface="Calibri"/>
              </a:rPr>
              <a:t>Research and Prior Art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6153912" y="1664208"/>
            <a:ext cx="5669280" cy="20116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>
            <a:outerShdw blurRad="152400" dist="25400" dir="5400000" rotWithShape="0">
              <a:srgbClr val="1F3B5C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0584" rIns="100584" tIns="82296"/>
          <a:lstStyle/>
          <a:p>
            <a:pPr algn="l">
              <a:lnSpc>
                <a:spcPct val="93000"/>
              </a:lnSpc>
              <a:spcAft>
                <a:spcPts val="700"/>
              </a:spcAft>
            </a:pPr>
            <a:r>
              <a:rPr sz="1200" b="1" i="0">
                <a:solidFill>
                  <a:srgbClr val="17375E"/>
                </a:solidFill>
                <a:latin typeface="Calibri"/>
              </a:rPr>
              <a:t>Mosca: </a:t>
            </a:r>
            <a:r>
              <a:rPr sz="1200" b="0" i="0">
                <a:solidFill>
                  <a:srgbClr val="3F4548"/>
                </a:solidFill>
                <a:latin typeface="Calibri"/>
              </a:rPr>
              <a:t>IEEE S&amp;P 16(5), 2018 - X+Y&gt;Z model</a:t>
            </a:r>
          </a:p>
          <a:p>
            <a:pPr algn="l">
              <a:lnSpc>
                <a:spcPct val="93000"/>
              </a:lnSpc>
              <a:spcAft>
                <a:spcPts val="700"/>
              </a:spcAft>
            </a:pPr>
            <a:r>
              <a:rPr sz="1200" b="1" i="0">
                <a:solidFill>
                  <a:srgbClr val="17375E"/>
                </a:solidFill>
                <a:latin typeface="Calibri"/>
              </a:rPr>
              <a:t>GRI: </a:t>
            </a:r>
            <a:r>
              <a:rPr sz="1200" b="0" i="0">
                <a:solidFill>
                  <a:srgbClr val="3F4548"/>
                </a:solidFill>
                <a:latin typeface="Calibri"/>
              </a:rPr>
              <a:t>Quantum Threat Timeline 2025</a:t>
            </a:r>
          </a:p>
          <a:p>
            <a:pPr algn="l">
              <a:lnSpc>
                <a:spcPct val="93000"/>
              </a:lnSpc>
              <a:spcAft>
                <a:spcPts val="700"/>
              </a:spcAft>
            </a:pPr>
            <a:r>
              <a:rPr sz="1200" b="1" i="0">
                <a:solidFill>
                  <a:srgbClr val="17375E"/>
                </a:solidFill>
                <a:latin typeface="Calibri"/>
              </a:rPr>
              <a:t>Repository: </a:t>
            </a:r>
            <a:r>
              <a:rPr sz="1200" b="0" i="0">
                <a:solidFill>
                  <a:srgbClr val="3F4548"/>
                </a:solidFill>
                <a:latin typeface="Calibri"/>
              </a:rPr>
              <a:t>github.com/RohanExploit/q-darpan</a:t>
            </a:r>
          </a:p>
        </p:txBody>
      </p:sp>
      <p:sp>
        <p:nvSpPr>
          <p:cNvPr id="17414" name="Pentagon 17413"/>
          <p:cNvSpPr/>
          <p:nvPr/>
        </p:nvSpPr>
        <p:spPr>
          <a:xfrm>
            <a:off x="365760" y="4626864"/>
            <a:ext cx="5669280" cy="384048"/>
          </a:xfrm>
          <a:prstGeom prst="homePlate">
            <a:avLst/>
          </a:prstGeom>
          <a:solidFill>
            <a:srgbClr val="4E8142"/>
          </a:solidFill>
          <a:ln>
            <a:noFill/>
          </a:ln>
          <a:effectLst>
            <a:outerShdw blurRad="101600" dist="25400" dir="5400000" rotWithShape="0">
              <a:srgbClr val="1F3B5C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Future Scope</a:t>
            </a:r>
          </a:p>
        </p:txBody>
      </p:sp>
      <p:sp>
        <p:nvSpPr>
          <p:cNvPr id="17415" name="Rounded Rectangle 17414"/>
          <p:cNvSpPr/>
          <p:nvPr/>
        </p:nvSpPr>
        <p:spPr>
          <a:xfrm>
            <a:off x="365760" y="5029200"/>
            <a:ext cx="5669280" cy="827105"/>
          </a:xfrm>
          <a:prstGeom prst="roundRect">
            <a:avLst/>
          </a:prstGeom>
          <a:solidFill>
            <a:srgbClr val="FFFFFF"/>
          </a:solidFill>
          <a:ln>
            <a:noFill/>
          </a:ln>
          <a:effectLst>
            <a:outerShdw blurRad="152400" dist="25400" dir="5400000" rotWithShape="0">
              <a:srgbClr val="1F3B5C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0584" rIns="100584" tIns="82296"/>
          <a:lstStyle/>
          <a:p>
            <a:pPr algn="l">
              <a:lnSpc>
                <a:spcPct val="93000"/>
              </a:lnSpc>
              <a:spcAft>
                <a:spcPts val="600"/>
              </a:spcAft>
            </a:pPr>
            <a:r>
              <a:rPr sz="1200" b="1" i="0">
                <a:solidFill>
                  <a:srgbClr val="17375E"/>
                </a:solidFill>
                <a:latin typeface="Calibri"/>
              </a:rPr>
              <a:t>Crypto-agility: </a:t>
            </a:r>
            <a:r>
              <a:rPr sz="1200" b="0" i="0">
                <a:solidFill>
                  <a:srgbClr val="3F4548"/>
                </a:solidFill>
                <a:latin typeface="Calibri"/>
              </a:rPr>
              <a:t>migration plans in CI gates</a:t>
            </a:r>
          </a:p>
          <a:p>
            <a:pPr algn="l">
              <a:lnSpc>
                <a:spcPct val="93000"/>
              </a:lnSpc>
              <a:spcAft>
                <a:spcPts val="600"/>
              </a:spcAft>
            </a:pPr>
            <a:r>
              <a:rPr sz="1200" b="1" i="0">
                <a:solidFill>
                  <a:srgbClr val="17375E"/>
                </a:solidFill>
                <a:latin typeface="Calibri"/>
              </a:rPr>
              <a:t>Coverage: </a:t>
            </a:r>
            <a:r>
              <a:rPr sz="1200" b="0" i="0">
                <a:solidFill>
                  <a:srgbClr val="3F4548"/>
                </a:solidFill>
                <a:latin typeface="Calibri"/>
              </a:rPr>
              <a:t>Rust, firmware, PKCS#11 HSM inventory</a:t>
            </a:r>
          </a:p>
        </p:txBody>
      </p:sp>
      <p:sp>
        <p:nvSpPr>
          <p:cNvPr id="17416" name="Rectangle 17415"/>
          <p:cNvSpPr/>
          <p:nvPr/>
        </p:nvSpPr>
        <p:spPr>
          <a:xfrm>
            <a:off x="6153912" y="4626864"/>
            <a:ext cx="5669280" cy="1243584"/>
          </a:xfrm>
          <a:prstGeom prst="rect">
            <a:avLst/>
          </a:prstGeom>
          <a:solidFill>
            <a:srgbClr val="DCE6F1"/>
          </a:solidFill>
          <a:ln w="15875">
            <a:solidFill>
              <a:srgbClr val="C050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1200" b="1" i="0">
                <a:solidFill>
                  <a:srgbClr val="17375E"/>
                </a:solidFill>
                <a:latin typeface="Calibri"/>
              </a:rPr>
              <a:t>Working repository:  </a:t>
            </a:r>
            <a:r>
              <a:rPr sz="1200" b="0" i="0">
                <a:solidFill>
                  <a:srgbClr val="C0504D"/>
                </a:solidFill>
                <a:latin typeface="Calibri"/>
              </a:rPr>
              <a:t>github.com/RohanExploit/q-darpan</a:t>
            </a:r>
          </a:p>
          <a:p>
            <a:pPr>
              <a:lnSpc>
                <a:spcPct val="95000"/>
              </a:lnSpc>
            </a:pPr>
            <a:r>
              <a:rPr sz="1100" b="0" i="0">
                <a:solidFill>
                  <a:srgbClr val="3F4548"/>
                </a:solidFill>
                <a:latin typeface="Calibri"/>
              </a:rPr>
              <a:t>Four collectors, CycloneDX 1.7 emitter, Mosca risk engine and FIPS 203/204/205 recommender. 109 tests passing. Apache-2.0.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7489</TotalTime>
  <Words>325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AICTE</cp:lastModifiedBy>
  <cp:revision>148</cp:revision>
  <dcterms:created xsi:type="dcterms:W3CDTF">2013-12-12T18:46:50Z</dcterms:created>
  <dcterms:modified xsi:type="dcterms:W3CDTF">2026-06-02T09:29:39Z</dcterms:modified>
  <cp:category/>
</cp:coreProperties>
</file>