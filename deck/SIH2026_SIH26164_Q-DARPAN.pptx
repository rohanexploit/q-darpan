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ID –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SIH26164</a:t>
            </a:r>
            <a:endParaRPr lang="en-US" dirty="0"/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Title-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Enterprise Cryptographic Discovery &amp; Analysis Tool (ECDAT)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Theme-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Blockchain &amp; Cybersecurity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PS Category-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Software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ID-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ID&gt;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Name (Registered on portal)-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9" name="Rectangle 15368"/>
          <p:cNvSpPr/>
          <p:nvPr/>
        </p:nvSpPr>
        <p:spPr>
          <a:xfrm>
            <a:off x="0" y="1115568"/>
            <a:ext cx="12192609" cy="42459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Q-DARPAN: CBOM Discovery and Quantum Risk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Pentagon 15361"/>
          <p:cNvSpPr/>
          <p:nvPr/>
        </p:nvSpPr>
        <p:spPr>
          <a:xfrm>
            <a:off x="365760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65760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Six Collectors: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repos, binaries, libraries, containers, TLS, HSM + cloud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Every Artefact: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algorithms, keys, certificates, protocols, libraries, hardware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Standard CBOM: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CycloneDX 1.7 = ECMA-424 2nd ed, with versions and modes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Engine + GUI: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Mosca risk, FIPS 203/204/205 advice, interactive dashboard</a:t>
            </a:r>
          </a:p>
        </p:txBody>
      </p:sp>
      <p:sp>
        <p:nvSpPr>
          <p:cNvPr id="15364" name="Pentagon 15363"/>
          <p:cNvSpPr/>
          <p:nvPr/>
        </p:nvSpPr>
        <p:spPr>
          <a:xfrm>
            <a:off x="4224528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224528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Catalogues: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every artefact, across internal and external facing estate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Quantum Risk: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systems exposed to Shor or Grover, and the data at stake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Classifies: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type, lifetime, business criticality via Mosca X+Y&gt;Z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Recommends: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PQC or hybrid, ranked by risk profile, latency and cost</a:t>
            </a:r>
          </a:p>
        </p:txBody>
      </p:sp>
      <p:sp>
        <p:nvSpPr>
          <p:cNvPr id="15366" name="Pentagon 15365"/>
          <p:cNvSpPr/>
          <p:nvPr/>
        </p:nvSpPr>
        <p:spPr>
          <a:xfrm>
            <a:off x="8083296" y="1225296"/>
            <a:ext cx="37398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8083296" y="1645920"/>
            <a:ext cx="3739896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Policy-Timed: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DST mandates vendor CBOMs from FY 2027-28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C/C++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sonar-cryptography has no C/C++ (Java, Python, Go, C#)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Beyond Discovery: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CBOMkit inventories only - no risk model, no advice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Air-Gapped: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offline scan, no agents, no cloud upload, CPU-only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Running Today: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public repo, 109 tests green, 51.7x ML-DSA delta measured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365760" y="4648260"/>
            <a:ext cx="1145743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7375E"/>
                </a:solidFill>
                <a:latin typeface="Calibri"/>
              </a:rPr>
              <a:t>01 CISO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scopes estate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02 Collectors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scan offline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03 Risk Engine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scores exposure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04 SOC Analyst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triages dashboard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05 Auditor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exports CBOM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5" name="Rectangle 17444"/>
          <p:cNvSpPr/>
          <p:nvPr/>
        </p:nvSpPr>
        <p:spPr>
          <a:xfrm>
            <a:off x="0" y="1115568"/>
            <a:ext cx="12192609" cy="5193792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463040"/>
            <a:ext cx="7863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l"/>
            <a:r>
              <a:rPr sz="1100" b="1" i="0">
                <a:solidFill>
                  <a:srgbClr val="1F60A8"/>
                </a:solidFill>
                <a:latin typeface="Calibri"/>
              </a:rPr>
              <a:t>Q-DARPAN DISCOVERY AND RISK PIPELINE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0624" y="2560320"/>
            <a:ext cx="7589520" cy="3520440"/>
          </a:xfrm>
          <a:prstGeom prst="rect">
            <a:avLst/>
          </a:prstGeom>
          <a:noFill/>
          <a:ln w="15875">
            <a:solidFill>
              <a:srgbClr val="C050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512064" y="2459736"/>
            <a:ext cx="3566160" cy="201168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/>
            <a:r>
              <a:rPr sz="1050" b="1" i="0">
                <a:solidFill>
                  <a:srgbClr val="C0504D"/>
                </a:solidFill>
                <a:latin typeface="Calibri"/>
              </a:rPr>
              <a:t>AIR-GAPPED ENCLAVE - NO EGRESS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66928" y="2743200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SOURCE REPO SCAN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AST across C/C++, Java, Go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66928" y="3529584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BINARY + LIBRARY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DT_NEEDED, symbols, constants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" y="4315968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CONTAINER LAYERS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per-layer image inspection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66928" y="5102352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TLS, HSM + CLOUD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handshake, PKCS#11, KMS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468880" y="3749039"/>
            <a:ext cx="1645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2B2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NORMALISER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cross-surface dedupe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confidence per finding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79392" y="3749039"/>
            <a:ext cx="1554480" cy="1005840"/>
          </a:xfrm>
          <a:prstGeom prst="roundRect">
            <a:avLst/>
          </a:prstGeom>
          <a:solidFill>
            <a:srgbClr val="DCE6F1"/>
          </a:solidFill>
          <a:ln w="22225">
            <a:solidFill>
              <a:srgbClr val="C0504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C0504D"/>
                </a:solidFill>
                <a:latin typeface="Calibri"/>
              </a:rPr>
              <a:t>CBOM ARTEFACT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CycloneDX 1.7 / ECMA-424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279392" y="4937760"/>
            <a:ext cx="1554480" cy="77724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AUDIT EXPORT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evidence pack for regulator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998464" y="2788920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MOSCA RISK ENGINE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X + Y &gt; Z, criticality tier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998464" y="3822191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RECOMMENDER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203/204/205, hybrid TLS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998464" y="4855464"/>
            <a:ext cx="1874519" cy="86868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INTERACTIVE GUI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scan, risks, ranked queue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91840" y="182880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777C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POLICY PACK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dates, DST milestones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2304288" y="3063240"/>
            <a:ext cx="164592" cy="118871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2304288" y="3849624"/>
            <a:ext cx="164592" cy="402335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 flipV="1">
            <a:off x="2304288" y="4251959"/>
            <a:ext cx="164592" cy="384048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 flipV="1">
            <a:off x="2304288" y="4251959"/>
            <a:ext cx="164592" cy="1170433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4114800" y="4251959"/>
            <a:ext cx="164592" cy="0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5056631" y="4754879"/>
            <a:ext cx="0" cy="18288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 flipV="1">
            <a:off x="5833872" y="3223260"/>
            <a:ext cx="164592" cy="102869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6935723" y="3657600"/>
            <a:ext cx="0" cy="16459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6935723" y="4690872"/>
            <a:ext cx="0" cy="164592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5303520" y="2112264"/>
            <a:ext cx="694944" cy="1110996"/>
          </a:xfrm>
          <a:prstGeom prst="line">
            <a:avLst/>
          </a:prstGeom>
          <a:ln w="12700">
            <a:solidFill>
              <a:srgbClr val="4F81BD"/>
            </a:solidFill>
            <a:prstDash val="dash"/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Pentagon 17433"/>
          <p:cNvSpPr/>
          <p:nvPr/>
        </p:nvSpPr>
        <p:spPr>
          <a:xfrm>
            <a:off x="8641080" y="1316736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641080" y="1645919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Parsers: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tree-sitter, pyelftools, PKCS#11, OpenSSL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Core: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Python 3.10+, CycloneDX 1.7 emitter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Interface: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FastAPI, interactive dashboard, offline CLI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Standards: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FIPS 203/204/205, RFC 10024 hybrid</a:t>
            </a:r>
          </a:p>
        </p:txBody>
      </p:sp>
      <p:sp>
        <p:nvSpPr>
          <p:cNvPr id="17436" name="Pentagon 17435"/>
          <p:cNvSpPr/>
          <p:nvPr/>
        </p:nvSpPr>
        <p:spPr>
          <a:xfrm>
            <a:off x="8641080" y="3621024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8641080" y="3950208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01 Collect: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six surfaces, one pass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02 Correlate: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dedupe, score, emit CBOM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03 Assess: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Mosca X+Y&gt;Z, 2030 deprecation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04 Prioritise: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rank swaps by payload and latency delta</a:t>
            </a:r>
          </a:p>
        </p:txBody>
      </p:sp>
      <p:pic>
        <p:nvPicPr>
          <p:cNvPr id="17438" name="Picture 17437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5" y="5742432"/>
            <a:ext cx="365760" cy="365760"/>
          </a:xfrm>
          <a:prstGeom prst="rect">
            <a:avLst/>
          </a:prstGeom>
        </p:spPr>
      </p:pic>
      <p:pic>
        <p:nvPicPr>
          <p:cNvPr id="17439" name="Picture 17438" descr="pyto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55" y="5742432"/>
            <a:ext cx="365760" cy="365760"/>
          </a:xfrm>
          <a:prstGeom prst="rect">
            <a:avLst/>
          </a:prstGeom>
        </p:spPr>
      </p:pic>
      <p:pic>
        <p:nvPicPr>
          <p:cNvPr id="17440" name="Picture 17439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5" y="5742432"/>
            <a:ext cx="365760" cy="365760"/>
          </a:xfrm>
          <a:prstGeom prst="rect">
            <a:avLst/>
          </a:prstGeom>
        </p:spPr>
      </p:pic>
      <p:pic>
        <p:nvPicPr>
          <p:cNvPr id="17441" name="Picture 17440" descr="rea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5" y="5742432"/>
            <a:ext cx="365760" cy="365760"/>
          </a:xfrm>
          <a:prstGeom prst="rect">
            <a:avLst/>
          </a:prstGeom>
        </p:spPr>
      </p:pic>
      <p:pic>
        <p:nvPicPr>
          <p:cNvPr id="17442" name="Picture 17441" descr="postgresq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6455" y="5742432"/>
            <a:ext cx="365760" cy="365760"/>
          </a:xfrm>
          <a:prstGeom prst="rect">
            <a:avLst/>
          </a:prstGeom>
        </p:spPr>
      </p:pic>
      <p:pic>
        <p:nvPicPr>
          <p:cNvPr id="17443" name="Picture 17442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3655" y="5742432"/>
            <a:ext cx="365760" cy="365760"/>
          </a:xfrm>
          <a:prstGeom prst="rect">
            <a:avLst/>
          </a:prstGeom>
        </p:spPr>
      </p:pic>
      <p:pic>
        <p:nvPicPr>
          <p:cNvPr id="17444" name="Picture 17443" descr="linu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20855" y="5742432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5" name="Rectangle 17414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3950208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3950208" cy="18545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Technical: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Running today: 4 of 6 collectors, 109 tests green, CBOM shipping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Agentless CLI plus interactive GUI; on-prem, CPU-only, no GPU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 stack; ~6 dev-months to pilot; zero licence cost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365760" y="4078224"/>
            <a:ext cx="3950208" cy="1463040"/>
          </a:xfrm>
          <a:prstGeom prst="rect">
            <a:avLst/>
          </a:prstGeom>
          <a:solidFill>
            <a:srgbClr val="DCE6F1"/>
          </a:solidFill>
          <a:ln w="12700">
            <a:solidFill>
              <a:srgbClr val="4E8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/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4E8142"/>
                </a:solidFill>
                <a:latin typeface="Calibri"/>
              </a:rPr>
              <a:t>Sustainability: 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 and agentless, so a PSU or state agency adopts it without procurement. Every CII operator faces the same 2027 milestone, which makes the first user the same as the hundredth.</a:t>
            </a:r>
          </a:p>
        </p:txBody>
      </p:sp>
      <p:sp>
        <p:nvSpPr>
          <p:cNvPr id="17413" name="Pentagon 17412"/>
          <p:cNvSpPr/>
          <p:nvPr/>
        </p:nvSpPr>
        <p:spPr>
          <a:xfrm>
            <a:off x="4498848" y="1261872"/>
            <a:ext cx="7324344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Challenges and Risks  →  Strategies for Overcoming These Challenges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498848" y="1591056"/>
          <a:ext cx="7324344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398264"/>
              </a:tblGrid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Potential challenge / risk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Strategy to overcome it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Stripped or static binaries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FindCrypt constants + DT_NEEDED; each hit carries a confidence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CBOMkit already exists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We add Mosca scoring, PQC recommender, C/C++ AST - CBOMkit has 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Mosca's Z is contested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Z is a user input; GRI 2025 expert range, not a constant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Air-gapped deployment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Offline wheel bundle, pinned tree-sitter grammars; zero network at scan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AST false positives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Cross-surface dedupe; validation corpus of 20 labelled repos, metrics per collector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6" name="Rectangle 17415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57972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5797296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Inventory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only 44% hold a crypto inventory (DigiCert 2026)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95% have no quantum strategy (ISACA 2025)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Mandate: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vendor CBOMs from FY 2027-28 (DST NQM, 2026)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365760" y="3602736"/>
            <a:ext cx="5797296" cy="384048"/>
          </a:xfrm>
          <a:prstGeom prst="homePlate">
            <a:avLst/>
          </a:prstGeom>
          <a:solidFill>
            <a:srgbClr val="9C6A0F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Illustrative Deployment Profile — CII State Data Centre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3931920"/>
            <a:ext cx="5797296" cy="1609344"/>
          </a:xfrm>
          <a:prstGeom prst="roundRect">
            <a:avLst/>
          </a:prstGeom>
          <a:solidFill>
            <a:srgbClr val="FDF5E6"/>
          </a:solidFill>
          <a:ln w="15875">
            <a:solidFill>
              <a:srgbClr val="9C6A0F"/>
            </a:solidFill>
          </a:ln>
          <a:effectLst>
            <a:outerShdw blurRad="1270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200" b="1" i="0">
                <a:solidFill>
                  <a:srgbClr val="9C6A0F"/>
                </a:solidFill>
                <a:latin typeface="Calibri"/>
              </a:rPr>
              <a:t>Typical estate: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412 repos, 190 images, 2,300 TLS endpoints, 40 HSM slots from zero</a:t>
            </a:r>
          </a:p>
          <a:p>
            <a:pPr>
              <a:lnSpc>
                <a:spcPct val="95000"/>
              </a:lnSpc>
            </a:pPr>
            <a:r>
              <a:rPr sz="1100" b="0" i="1">
                <a:solidFill>
                  <a:srgbClr val="6E777C"/>
                </a:solidFill>
                <a:latin typeface="Calibri"/>
              </a:rPr>
              <a:t>Illustrative profile — not a completed deployment.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6309360" y="1261872"/>
            <a:ext cx="551383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Benefits of the Solution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09360" y="1682496"/>
            <a:ext cx="5513832" cy="200260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on-prem and sovereign; no foreign agent in CII networks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Apache-2.0; no per-endpoint licence fee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one pass spans repos, binaries, containers, TLS, HSM, cloud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Ecosystem: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CycloneDX 1.7 CBOM any auditor can reload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Data Risk: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ties every weak asset to the sensitive data it is protecting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7" name="Rectangle 17416"/>
          <p:cNvSpPr/>
          <p:nvPr/>
        </p:nvSpPr>
        <p:spPr>
          <a:xfrm>
            <a:off x="0" y="1115568"/>
            <a:ext cx="12192609" cy="49926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DST NQM: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Safe Ecosystem Task Force report, 4 Feb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NIST: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FIPS 203 ML-KEM / 204 ML-DSA / 205 SLH-DSA, Aug 2024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IETF: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RFC 10024, PQ/T Hybrid Key Agreement for TLS 1.3, Aug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ECMA-424: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v1.7 = 2nd edition Dec 2025; v1.6 = 1st edition Jun 2024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6153912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Research and Prior Art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53912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Mosca: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IEEE S&amp;P 16(5), 2018 - X+Y&gt;Z model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GRI: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Threat Timeline 2025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Repository: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github.com/RohanExploit/q-darpan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365760" y="4626864"/>
            <a:ext cx="5669280" cy="384048"/>
          </a:xfrm>
          <a:prstGeom prst="homePlate">
            <a:avLst/>
          </a:prstGeom>
          <a:solidFill>
            <a:srgbClr val="4E8142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5029200"/>
            <a:ext cx="5669280" cy="82710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Crypto-agility: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migration plans in CI gates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Coverage: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Rust, firmware, PKCS#11 HSM inventory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153912" y="4626864"/>
            <a:ext cx="5669280" cy="1243584"/>
          </a:xfrm>
          <a:prstGeom prst="rect">
            <a:avLst/>
          </a:prstGeom>
          <a:solidFill>
            <a:srgbClr val="DCE6F1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Working repository:  </a:t>
            </a:r>
            <a:r>
              <a:rPr sz="1200" b="0" i="0">
                <a:solidFill>
                  <a:srgbClr val="C0504D"/>
                </a:solidFill>
                <a:latin typeface="Calibri"/>
              </a:rPr>
              <a:t>github.com/RohanExploit/q-darpan</a:t>
            </a:r>
          </a:p>
          <a:p>
            <a:pPr>
              <a:lnSpc>
                <a:spcPct val="95000"/>
              </a:lnSpc>
            </a:pPr>
            <a:r>
              <a:rPr sz="1100" b="0" i="0">
                <a:solidFill>
                  <a:srgbClr val="3F4548"/>
                </a:solidFill>
                <a:latin typeface="Calibri"/>
              </a:rPr>
              <a:t>Four collectors, CycloneDX 1.7 emitter, Mosca risk engine and FIPS 203/204/205 recommender. 109 tests passing. Apache-2.0.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