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Problem Statement ID –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SIH26164</a:t>
            </a:r>
            <a:endParaRPr lang="en-US" dirty="0"/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Problem Statement Title-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Enterprise Cryptographic Discovery &amp; Analysis Tool (ECDAT)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Theme-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Blockchain &amp; Cybersecurity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PS Category-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Software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Team ID-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&lt;TEAM ID&gt;</a:t>
            </a:r>
          </a:p>
          <a:p>
            <a:pPr algn="l">
              <a:lnSpc>
                <a:spcPct val="95000"/>
              </a:lnSpc>
              <a:spcAft>
                <a:spcPts val="900"/>
              </a:spcAft>
            </a:pPr>
            <a:r>
              <a:rPr sz="1500" b="1" i="0">
                <a:solidFill>
                  <a:srgbClr val="17375E"/>
                </a:solidFill>
                <a:latin typeface="Calibri"/>
              </a:rPr>
              <a:t>Team Name (Registered on portal)- </a:t>
            </a:r>
            <a:r>
              <a:rPr sz="1500" b="0" i="0">
                <a:solidFill>
                  <a:srgbClr val="3F4548"/>
                </a:solidFill>
                <a:latin typeface="Calibri"/>
              </a:rPr>
              <a:t>&lt;TEAM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15368"/>
          <p:cNvSpPr/>
          <p:nvPr/>
        </p:nvSpPr>
        <p:spPr>
          <a:xfrm>
            <a:off x="0" y="1115568"/>
            <a:ext cx="12192609" cy="4245924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Q-DARPAN: CBOM Discovery and Quantum Risk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/>
              <a:t>&lt;TEAM&gt;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Pentagon 15361"/>
          <p:cNvSpPr/>
          <p:nvPr/>
        </p:nvSpPr>
        <p:spPr>
          <a:xfrm>
            <a:off x="365760" y="1225296"/>
            <a:ext cx="3703320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65760" y="1645920"/>
            <a:ext cx="3703320" cy="28011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Collectors: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source AST, ELF, containers, live TLS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Normaliser: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cross-surface dedupe with confidence scoring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CBOM: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CycloneDX 1.7 (v1.6 = ECMA-424)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Engine: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Mosca scoring plus FIPS 203/204/205 recommender</a:t>
            </a:r>
          </a:p>
        </p:txBody>
      </p:sp>
      <p:sp>
        <p:nvSpPr>
          <p:cNvPr id="15364" name="Pentagon 15363"/>
          <p:cNvSpPr/>
          <p:nvPr/>
        </p:nvSpPr>
        <p:spPr>
          <a:xfrm>
            <a:off x="4224528" y="1225296"/>
            <a:ext cx="3703320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24528" y="1645920"/>
            <a:ext cx="3703320" cy="28011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Catalogues: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algorithms, keys, certificates, libraries, protocols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Quantum Risk: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RSA/ECC flagged against NIST IR 8547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Classifies: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type, lifetime, criticality via Mosca's X+Y&gt;Z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Recommends: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hybrid or pure PQC by latency, cost</a:t>
            </a:r>
          </a:p>
        </p:txBody>
      </p:sp>
      <p:sp>
        <p:nvSpPr>
          <p:cNvPr id="15366" name="Pentagon 15365"/>
          <p:cNvSpPr/>
          <p:nvPr/>
        </p:nvSpPr>
        <p:spPr>
          <a:xfrm>
            <a:off x="8083296" y="1225296"/>
            <a:ext cx="3739896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8083296" y="1645920"/>
            <a:ext cx="3739896" cy="28011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Policy-Timed: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DST mandates vendor CBOMs from FY 2027-28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C/C++ Gap: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sonar-cryptography reads Java, Python, Go only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Beyond Discovery: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CBOMkit inventories only - no risk model, no advice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Air-Gapped: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offline scan, no agents, no cloud upload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Size Delta: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ML-DSA-65 costs +1888 B key, 51.7x payload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365760" y="4648260"/>
            <a:ext cx="114574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7375E"/>
                </a:solidFill>
                <a:latin typeface="Calibri"/>
              </a:rPr>
              <a:t>01 CISO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scopes estate</a:t>
            </a:r>
            <a:r>
              <a:rPr sz="1250" b="1" i="0">
                <a:solidFill>
                  <a:srgbClr val="1F60A8"/>
                </a:solidFill>
                <a:latin typeface="Calibri"/>
              </a:rPr>
              <a:t>   →   </a:t>
            </a:r>
            <a:r>
              <a:rPr sz="1200" b="1" i="0">
                <a:solidFill>
                  <a:srgbClr val="17375E"/>
                </a:solidFill>
                <a:latin typeface="Calibri"/>
              </a:rPr>
              <a:t>02 Collectors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scan offline</a:t>
            </a:r>
            <a:r>
              <a:rPr sz="1250" b="1" i="0">
                <a:solidFill>
                  <a:srgbClr val="1F60A8"/>
                </a:solidFill>
                <a:latin typeface="Calibri"/>
              </a:rPr>
              <a:t>   →   </a:t>
            </a:r>
            <a:r>
              <a:rPr sz="1200" b="1" i="0">
                <a:solidFill>
                  <a:srgbClr val="17375E"/>
                </a:solidFill>
                <a:latin typeface="Calibri"/>
              </a:rPr>
              <a:t>03 Risk Engine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scores exposure</a:t>
            </a:r>
            <a:r>
              <a:rPr sz="1250" b="1" i="0">
                <a:solidFill>
                  <a:srgbClr val="1F60A8"/>
                </a:solidFill>
                <a:latin typeface="Calibri"/>
              </a:rPr>
              <a:t>   →   </a:t>
            </a:r>
            <a:r>
              <a:rPr sz="1200" b="1" i="0">
                <a:solidFill>
                  <a:srgbClr val="17375E"/>
                </a:solidFill>
                <a:latin typeface="Calibri"/>
              </a:rPr>
              <a:t>04 SOC Analyst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triages dashboard</a:t>
            </a:r>
            <a:r>
              <a:rPr sz="1250" b="1" i="0">
                <a:solidFill>
                  <a:srgbClr val="1F60A8"/>
                </a:solidFill>
                <a:latin typeface="Calibri"/>
              </a:rPr>
              <a:t>   →   </a:t>
            </a:r>
            <a:r>
              <a:rPr sz="1200" b="1" i="0">
                <a:solidFill>
                  <a:srgbClr val="17375E"/>
                </a:solidFill>
                <a:latin typeface="Calibri"/>
              </a:rPr>
              <a:t>05 Auditor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exports CBOM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5" name="Rectangle 17444"/>
          <p:cNvSpPr/>
          <p:nvPr/>
        </p:nvSpPr>
        <p:spPr>
          <a:xfrm>
            <a:off x="0" y="1115568"/>
            <a:ext cx="12192609" cy="5193792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/>
              <a:t>&lt;TEAM&gt;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463040"/>
            <a:ext cx="7863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l"/>
            <a:r>
              <a:rPr sz="1100" b="1" i="0">
                <a:solidFill>
                  <a:srgbClr val="1F60A8"/>
                </a:solidFill>
                <a:latin typeface="Calibri"/>
              </a:rPr>
              <a:t>Q-DARPAN DISCOVERY AND RISK PIPELINE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420624" y="2560320"/>
            <a:ext cx="7589520" cy="3520440"/>
          </a:xfrm>
          <a:prstGeom prst="rect">
            <a:avLst/>
          </a:prstGeom>
          <a:noFill/>
          <a:ln w="15875">
            <a:solidFill>
              <a:srgbClr val="C050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512064" y="2459736"/>
            <a:ext cx="3566160" cy="20116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l"/>
            <a:r>
              <a:rPr sz="1050" b="1" i="0">
                <a:solidFill>
                  <a:srgbClr val="C0504D"/>
                </a:solidFill>
                <a:latin typeface="Calibri"/>
              </a:rPr>
              <a:t>AIR-GAPPED ENCLAVE - NO EGRESS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66928" y="274320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SOURCE AST SCAN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AST across C/C++, Java, Go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66928" y="3529584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BINARY / ELF SCAN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DT_NEEDED + constant search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66928" y="4315968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CONTAINER LAYERS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per-layer image inspection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66928" y="5102352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81BD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LIVE TLS PROBE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handshake, certs, groups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468880" y="3749039"/>
            <a:ext cx="1645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2B2E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NORMALISER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cross-surface dedupe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confidence per finding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79392" y="3749039"/>
            <a:ext cx="1554480" cy="1005840"/>
          </a:xfrm>
          <a:prstGeom prst="roundRect">
            <a:avLst/>
          </a:prstGeom>
          <a:solidFill>
            <a:srgbClr val="DCE6F1"/>
          </a:solidFill>
          <a:ln w="22225">
            <a:solidFill>
              <a:srgbClr val="C0504D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C0504D"/>
                </a:solidFill>
                <a:latin typeface="Calibri"/>
              </a:rPr>
              <a:t>CBOM ARTEFACT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CycloneDX 1.7 / ECMA-424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279392" y="4937760"/>
            <a:ext cx="1554480" cy="777240"/>
          </a:xfrm>
          <a:prstGeom prst="roundRect">
            <a:avLst/>
          </a:prstGeom>
          <a:solidFill>
            <a:srgbClr val="17375E"/>
          </a:solidFill>
          <a:ln w="12700">
            <a:solidFill>
              <a:srgbClr val="17375E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AUDIT EXPORT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DCE6F1"/>
                </a:solidFill>
                <a:latin typeface="Calibri"/>
              </a:rPr>
              <a:t>evidence pack for regulator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98464" y="2788920"/>
            <a:ext cx="187451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75E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MOSCA RISK ENGINE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X + Y &gt; Z, criticality tier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98464" y="3822191"/>
            <a:ext cx="187451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375E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PQC RECOMMENDER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FIPS 203/204/205, hybrid TLS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98464" y="4855464"/>
            <a:ext cx="1874519" cy="868680"/>
          </a:xfrm>
          <a:prstGeom prst="roundRect">
            <a:avLst/>
          </a:prstGeom>
          <a:solidFill>
            <a:srgbClr val="17375E"/>
          </a:solidFill>
          <a:ln w="12700">
            <a:solidFill>
              <a:srgbClr val="17375E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ANALYST DASHBOARD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DCE6F1"/>
                </a:solidFill>
                <a:latin typeface="Calibri"/>
              </a:rPr>
              <a:t>ranked migration queue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0" y="1828800"/>
            <a:ext cx="2011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777C"/>
            </a:solidFill>
          </a:ln>
          <a:effectLst>
            <a:outerShdw blurRad="101600" dist="19050" dir="5400000" rotWithShape="0">
              <a:srgbClr val="1F3B5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2000"/>
              </a:lnSpc>
            </a:pPr>
            <a:r>
              <a:rPr sz="1100" b="1" i="0">
                <a:solidFill>
                  <a:srgbClr val="262B2E"/>
                </a:solidFill>
                <a:latin typeface="Calibri"/>
              </a:rPr>
              <a:t>PQC POLICY PACK</a:t>
            </a:r>
          </a:p>
          <a:p>
            <a:pPr algn="ctr">
              <a:lnSpc>
                <a:spcPct val="92000"/>
              </a:lnSpc>
            </a:pPr>
            <a:r>
              <a:rPr sz="1050" b="0" i="0">
                <a:solidFill>
                  <a:srgbClr val="6E777C"/>
                </a:solidFill>
                <a:latin typeface="Calibri"/>
              </a:rPr>
              <a:t>FIPS dates, DST milestones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2304288" y="3063240"/>
            <a:ext cx="164592" cy="1188719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2304288" y="3849624"/>
            <a:ext cx="164592" cy="402335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 flipV="1">
            <a:off x="2304288" y="4251959"/>
            <a:ext cx="164592" cy="384048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V="1">
            <a:off x="2304288" y="4251959"/>
            <a:ext cx="164592" cy="1170433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4114800" y="4251959"/>
            <a:ext cx="164592" cy="0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5056631" y="4754879"/>
            <a:ext cx="0" cy="182881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 flipV="1">
            <a:off x="5833872" y="3223260"/>
            <a:ext cx="164592" cy="1028699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6935723" y="3657600"/>
            <a:ext cx="0" cy="164591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6935723" y="4690872"/>
            <a:ext cx="0" cy="164592"/>
          </a:xfrm>
          <a:prstGeom prst="line">
            <a:avLst/>
          </a:prstGeom>
          <a:ln w="12700">
            <a:solidFill>
              <a:srgbClr val="4F81BD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5303520" y="2112264"/>
            <a:ext cx="694944" cy="1110996"/>
          </a:xfrm>
          <a:prstGeom prst="line">
            <a:avLst/>
          </a:prstGeom>
          <a:ln w="12700">
            <a:solidFill>
              <a:srgbClr val="4F81BD"/>
            </a:solidFill>
            <a:prstDash val="dash"/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Pentagon 17433"/>
          <p:cNvSpPr/>
          <p:nvPr/>
        </p:nvSpPr>
        <p:spPr>
          <a:xfrm>
            <a:off x="8641080" y="1316736"/>
            <a:ext cx="3182112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641080" y="1645919"/>
            <a:ext cx="318211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Parsers: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tree-sitter, pyelftools, syft, OpenSSL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Core: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Python 3.12, CycloneDX 1.7 emitter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Interface: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FastAPI, React dashboard, offline CLI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Standards: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FIPS 203/204/205, RFC 10024 hybrid</a:t>
            </a:r>
          </a:p>
        </p:txBody>
      </p:sp>
      <p:sp>
        <p:nvSpPr>
          <p:cNvPr id="17436" name="Pentagon 17435"/>
          <p:cNvSpPr/>
          <p:nvPr/>
        </p:nvSpPr>
        <p:spPr>
          <a:xfrm>
            <a:off x="8641080" y="3621024"/>
            <a:ext cx="3182112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8641080" y="3950208"/>
            <a:ext cx="3182112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01 Collect: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four surfaces, one pass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02 Correlate: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dedupe, score, emit CBOM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03 Assess: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Mosca X+Y&gt;Z, 2030 deprecation</a:t>
            </a:r>
          </a:p>
          <a:p>
            <a:pPr algn="l">
              <a:lnSpc>
                <a:spcPct val="93000"/>
              </a:lnSpc>
              <a:spcAft>
                <a:spcPts val="500"/>
              </a:spcAft>
            </a:pPr>
            <a:r>
              <a:rPr sz="1150" b="1" i="0">
                <a:solidFill>
                  <a:srgbClr val="17375E"/>
                </a:solidFill>
                <a:latin typeface="Calibri"/>
              </a:rPr>
              <a:t>04 Prioritise: </a:t>
            </a:r>
            <a:r>
              <a:rPr sz="1150" b="0" i="0">
                <a:solidFill>
                  <a:srgbClr val="3F4548"/>
                </a:solidFill>
                <a:latin typeface="Calibri"/>
              </a:rPr>
              <a:t>rank swaps by payload and latency delta</a:t>
            </a:r>
          </a:p>
        </p:txBody>
      </p:sp>
      <p:pic>
        <p:nvPicPr>
          <p:cNvPr id="17438" name="Picture 17437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5" y="5742432"/>
            <a:ext cx="365760" cy="365760"/>
          </a:xfrm>
          <a:prstGeom prst="rect">
            <a:avLst/>
          </a:prstGeom>
        </p:spPr>
      </p:pic>
      <p:pic>
        <p:nvPicPr>
          <p:cNvPr id="17439" name="Picture 17438" descr="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5" y="5742432"/>
            <a:ext cx="365760" cy="365760"/>
          </a:xfrm>
          <a:prstGeom prst="rect">
            <a:avLst/>
          </a:prstGeom>
        </p:spPr>
      </p:pic>
      <p:pic>
        <p:nvPicPr>
          <p:cNvPr id="17440" name="Picture 17439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5" y="5742432"/>
            <a:ext cx="365760" cy="365760"/>
          </a:xfrm>
          <a:prstGeom prst="rect">
            <a:avLst/>
          </a:prstGeom>
        </p:spPr>
      </p:pic>
      <p:pic>
        <p:nvPicPr>
          <p:cNvPr id="17441" name="Picture 17440" descr="re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9255" y="5742432"/>
            <a:ext cx="365760" cy="365760"/>
          </a:xfrm>
          <a:prstGeom prst="rect">
            <a:avLst/>
          </a:prstGeom>
        </p:spPr>
      </p:pic>
      <p:pic>
        <p:nvPicPr>
          <p:cNvPr id="17442" name="Picture 17441" descr="postgresq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6455" y="5742432"/>
            <a:ext cx="365760" cy="365760"/>
          </a:xfrm>
          <a:prstGeom prst="rect">
            <a:avLst/>
          </a:prstGeom>
        </p:spPr>
      </p:pic>
      <p:pic>
        <p:nvPicPr>
          <p:cNvPr id="17443" name="Picture 17442" descr="do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5" y="5742432"/>
            <a:ext cx="365760" cy="365760"/>
          </a:xfrm>
          <a:prstGeom prst="rect">
            <a:avLst/>
          </a:prstGeom>
        </p:spPr>
      </p:pic>
      <p:pic>
        <p:nvPicPr>
          <p:cNvPr id="17444" name="Picture 17443" descr="linu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20855" y="57424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Rectangle 17414"/>
          <p:cNvSpPr/>
          <p:nvPr/>
        </p:nvSpPr>
        <p:spPr>
          <a:xfrm>
            <a:off x="0" y="1115568"/>
            <a:ext cx="12192609" cy="466344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/>
              <a:t>&lt;TEAM&gt;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entagon 17409"/>
          <p:cNvSpPr/>
          <p:nvPr/>
        </p:nvSpPr>
        <p:spPr>
          <a:xfrm>
            <a:off x="365760" y="1261872"/>
            <a:ext cx="3950208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82496"/>
            <a:ext cx="3950208" cy="18545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8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Technical: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Working prototype: 4 collectors, 20 tests green, CycloneDX 1.7 output</a:t>
            </a:r>
          </a:p>
          <a:p>
            <a:pPr algn="l">
              <a:lnSpc>
                <a:spcPct val="93000"/>
              </a:lnSpc>
              <a:spcAft>
                <a:spcPts val="8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Operational: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One agentless Python CLI + GUI; runs fully on-premises</a:t>
            </a:r>
          </a:p>
          <a:p>
            <a:pPr algn="l">
              <a:lnSpc>
                <a:spcPct val="93000"/>
              </a:lnSpc>
              <a:spcAft>
                <a:spcPts val="8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Economic: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Apache-2.0 stack; ~6 dev-months to pilot; zero licence cost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65760" y="4078224"/>
            <a:ext cx="3950208" cy="1463040"/>
          </a:xfrm>
          <a:prstGeom prst="rect">
            <a:avLst/>
          </a:prstGeom>
          <a:solidFill>
            <a:srgbClr val="DCE6F1"/>
          </a:solidFill>
          <a:ln w="12700">
            <a:solidFill>
              <a:srgbClr val="4E8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100584"/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4E8142"/>
                </a:solidFill>
                <a:latin typeface="Calibri"/>
              </a:rPr>
              <a:t>Sustainability: 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Apache-2.0 and agentless, so a PSU or state agency adopts it without procurement. Every CII operator faces the same 2027 milestone, which makes the first user the same as the hundredth.</a:t>
            </a:r>
          </a:p>
        </p:txBody>
      </p:sp>
      <p:sp>
        <p:nvSpPr>
          <p:cNvPr id="17413" name="Pentagon 17412"/>
          <p:cNvSpPr/>
          <p:nvPr/>
        </p:nvSpPr>
        <p:spPr>
          <a:xfrm>
            <a:off x="4498848" y="1261872"/>
            <a:ext cx="7324344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Potential Challenges and Risks  →  Strategies for Overcoming These Challenges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4498848" y="1591056"/>
          <a:ext cx="7324344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98264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Potential challenge / risk</a:t>
                      </a:r>
                    </a:p>
                  </a:txBody>
                  <a:tcPr marL="73152" marR="73152" anchor="ctr"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Strategy to overcome it</a:t>
                      </a:r>
                    </a:p>
                  </a:txBody>
                  <a:tcPr marL="73152" marR="73152" anchor="ctr">
                    <a:solidFill>
                      <a:srgbClr val="17375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C0504D"/>
                          </a:solidFill>
                          <a:latin typeface="Calibri"/>
                        </a:rPr>
                        <a:t>Stripped or static binaries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F4548"/>
                          </a:solidFill>
                          <a:latin typeface="Calibri"/>
                        </a:rPr>
                        <a:t>FindCrypt constants + DT_NEEDED; each hit carries a confidence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C0504D"/>
                          </a:solidFill>
                          <a:latin typeface="Calibri"/>
                        </a:rPr>
                        <a:t>CBOMkit already exists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F4548"/>
                          </a:solidFill>
                          <a:latin typeface="Calibri"/>
                        </a:rPr>
                        <a:t>We add Mosca scoring, PQC recommender, C/C++ AST - CBOMkit has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C0504D"/>
                          </a:solidFill>
                          <a:latin typeface="Calibri"/>
                        </a:rPr>
                        <a:t>Mosca's Z is contested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F4548"/>
                          </a:solidFill>
                          <a:latin typeface="Calibri"/>
                        </a:rPr>
                        <a:t>Z is a user input; GRI 2025 expert range, not a constant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C0504D"/>
                          </a:solidFill>
                          <a:latin typeface="Calibri"/>
                        </a:rPr>
                        <a:t>Air-gapped deployment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F4548"/>
                          </a:solidFill>
                          <a:latin typeface="Calibri"/>
                        </a:rPr>
                        <a:t>Offline wheel bundle, pinned tree-sitter grammars; zero network at scan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C0504D"/>
                          </a:solidFill>
                          <a:latin typeface="Calibri"/>
                        </a:rPr>
                        <a:t>AST false positives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F4548"/>
                          </a:solidFill>
                          <a:latin typeface="Calibri"/>
                        </a:rPr>
                        <a:t>Cross-surface dedupe; validation corpus of 20 labelled repos, metrics per collector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17415"/>
          <p:cNvSpPr/>
          <p:nvPr/>
        </p:nvSpPr>
        <p:spPr>
          <a:xfrm>
            <a:off x="0" y="1115568"/>
            <a:ext cx="12192609" cy="4663440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/>
              <a:t>&lt;TEAM&gt;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entagon 17409"/>
          <p:cNvSpPr/>
          <p:nvPr/>
        </p:nvSpPr>
        <p:spPr>
          <a:xfrm>
            <a:off x="365760" y="1261872"/>
            <a:ext cx="5797296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82496"/>
            <a:ext cx="5797296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Inventory gap: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only 44% hold a crypto inventory (DigiCert 2026)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Strategy gap: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95% have no quantum strategy (ISACA 2025)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Mandate: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vendor CBOMs from FY 2027-28 (DST NQM, 2026)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365760" y="3602736"/>
            <a:ext cx="5797296" cy="384048"/>
          </a:xfrm>
          <a:prstGeom prst="homePlate">
            <a:avLst/>
          </a:prstGeom>
          <a:solidFill>
            <a:srgbClr val="9C6A0F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Illustrative Deployment Profile — CII State Data Centre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3931920"/>
            <a:ext cx="5797296" cy="1609344"/>
          </a:xfrm>
          <a:prstGeom prst="roundRect">
            <a:avLst/>
          </a:prstGeom>
          <a:solidFill>
            <a:srgbClr val="FDF5E6"/>
          </a:solidFill>
          <a:ln w="15875">
            <a:solidFill>
              <a:srgbClr val="9C6A0F"/>
            </a:solidFill>
          </a:ln>
          <a:effectLst>
            <a:outerShdw blurRad="1270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00" b="1" i="0">
                <a:solidFill>
                  <a:srgbClr val="9C6A0F"/>
                </a:solidFill>
                <a:latin typeface="Calibri"/>
              </a:rPr>
              <a:t>Typical estate: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412 repos, 190 images, 2,300 TLS endpoints catalogued from zero</a:t>
            </a:r>
          </a:p>
          <a:p>
            <a:pPr>
              <a:lnSpc>
                <a:spcPct val="95000"/>
              </a:lnSpc>
            </a:pPr>
            <a:r>
              <a:rPr sz="1100" b="0" i="1">
                <a:solidFill>
                  <a:srgbClr val="6E777C"/>
                </a:solidFill>
                <a:latin typeface="Calibri"/>
              </a:rPr>
              <a:t>Illustrative profile — not a completed deployment.</a:t>
            </a:r>
          </a:p>
        </p:txBody>
      </p:sp>
      <p:sp>
        <p:nvSpPr>
          <p:cNvPr id="17414" name="Pentagon 17413"/>
          <p:cNvSpPr/>
          <p:nvPr/>
        </p:nvSpPr>
        <p:spPr>
          <a:xfrm>
            <a:off x="6309360" y="1261872"/>
            <a:ext cx="5513832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309360" y="1682496"/>
            <a:ext cx="5513832" cy="200260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Strategic: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on-prem and sovereign; no foreign agent in CII networks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Economic: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Apache-2.0; no per-endpoint licence fee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Operational: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one scan spans source, binaries, containers, live TLS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Ecosystem: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CycloneDX 1.7 CBOM any auditor can reload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Operations: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run by the agency SOC as a quarterly scan; no licence, no per-endpoint fee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ectangle 17416"/>
          <p:cNvSpPr/>
          <p:nvPr/>
        </p:nvSpPr>
        <p:spPr>
          <a:xfrm>
            <a:off x="0" y="1115568"/>
            <a:ext cx="12192609" cy="4992624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b="1" sz="1100"/>
              <a:t>&lt;TEAM&gt;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Pentagon 17409"/>
          <p:cNvSpPr/>
          <p:nvPr/>
        </p:nvSpPr>
        <p:spPr>
          <a:xfrm>
            <a:off x="365760" y="1243584"/>
            <a:ext cx="5669280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64208"/>
            <a:ext cx="5669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DST NQM: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Quantum Safe Ecosystem Task Force report, 4 Feb 2026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NIST: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FIPS 203 ML-KEM / 204 ML-DSA / 205 SLH-DSA, Aug 2024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IETF: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RFC 10024, PQ/T Hybrid Key Agreement for TLS 1.3, 2026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ECMA-424: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CycloneDX v1.7, Oct 2025; v1.6 is ECMA-424</a:t>
            </a:r>
          </a:p>
        </p:txBody>
      </p:sp>
      <p:sp>
        <p:nvSpPr>
          <p:cNvPr id="17412" name="Pentagon 17411"/>
          <p:cNvSpPr/>
          <p:nvPr/>
        </p:nvSpPr>
        <p:spPr>
          <a:xfrm>
            <a:off x="6153912" y="1243584"/>
            <a:ext cx="5669280" cy="384048"/>
          </a:xfrm>
          <a:prstGeom prst="homePlate">
            <a:avLst/>
          </a:prstGeom>
          <a:solidFill>
            <a:srgbClr val="1F60A8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Research and Prior Art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53912" y="1664208"/>
            <a:ext cx="5669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Mosca: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IEEE S&amp;P 16(5), 2018 - X+Y&gt;Z model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GRI: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Quantum Threat Timeline 2025</a:t>
            </a:r>
          </a:p>
          <a:p>
            <a:pPr algn="l">
              <a:lnSpc>
                <a:spcPct val="93000"/>
              </a:lnSpc>
              <a:spcAft>
                <a:spcPts val="7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Repository: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github.com/RohanExploit/q-darpan</a:t>
            </a:r>
          </a:p>
        </p:txBody>
      </p:sp>
      <p:sp>
        <p:nvSpPr>
          <p:cNvPr id="17414" name="Pentagon 17413"/>
          <p:cNvSpPr/>
          <p:nvPr/>
        </p:nvSpPr>
        <p:spPr>
          <a:xfrm>
            <a:off x="365760" y="4626864"/>
            <a:ext cx="5669280" cy="384048"/>
          </a:xfrm>
          <a:prstGeom prst="homePlate">
            <a:avLst/>
          </a:prstGeom>
          <a:solidFill>
            <a:srgbClr val="4E8142"/>
          </a:solidFill>
          <a:ln>
            <a:noFill/>
          </a:ln>
          <a:effectLst>
            <a:outerShdw blurRad="101600" dist="25400" dir="5400000" rotWithShape="0">
              <a:srgbClr val="1F3B5C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5029200"/>
            <a:ext cx="5669280" cy="8271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52400" dist="25400" dir="5400000" rotWithShape="0">
              <a:srgbClr val="1F3B5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0584" rIns="100584" tIns="82296"/>
          <a:lstStyle/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Crypto-agility: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migration plans in CI gates</a:t>
            </a:r>
          </a:p>
          <a:p>
            <a:pPr algn="l">
              <a:lnSpc>
                <a:spcPct val="93000"/>
              </a:lnSpc>
              <a:spcAft>
                <a:spcPts val="6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Coverage: </a:t>
            </a:r>
            <a:r>
              <a:rPr sz="1200" b="0" i="0">
                <a:solidFill>
                  <a:srgbClr val="3F4548"/>
                </a:solidFill>
                <a:latin typeface="Calibri"/>
              </a:rPr>
              <a:t>Rust, firmware, PKCS#11 HSM inventory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153912" y="4626864"/>
            <a:ext cx="5669280" cy="1243584"/>
          </a:xfrm>
          <a:prstGeom prst="rect">
            <a:avLst/>
          </a:prstGeom>
          <a:solidFill>
            <a:srgbClr val="DCE6F1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1" i="0">
                <a:solidFill>
                  <a:srgbClr val="17375E"/>
                </a:solidFill>
                <a:latin typeface="Calibri"/>
              </a:rPr>
              <a:t>Working repository:  </a:t>
            </a:r>
            <a:r>
              <a:rPr sz="1200" b="0" i="0">
                <a:solidFill>
                  <a:srgbClr val="C0504D"/>
                </a:solidFill>
                <a:latin typeface="Calibri"/>
              </a:rPr>
              <a:t>github.com/RohanExploit/q-darpan</a:t>
            </a:r>
          </a:p>
          <a:p>
            <a:pPr>
              <a:lnSpc>
                <a:spcPct val="95000"/>
              </a:lnSpc>
            </a:pPr>
            <a:r>
              <a:rPr sz="1100" b="0" i="0">
                <a:solidFill>
                  <a:srgbClr val="3F4548"/>
                </a:solidFill>
                <a:latin typeface="Calibri"/>
              </a:rPr>
              <a:t>Four collectors, CycloneDX 1.7 emitter, Mosca risk engine and FIPS 203/204/205 recommender. 20 unit tests passing. Apache-2.0.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